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9" r:id="rId3"/>
    <p:sldId id="260" r:id="rId4"/>
    <p:sldId id="261" r:id="rId5"/>
    <p:sldId id="262" r:id="rId6"/>
    <p:sldId id="265" r:id="rId7"/>
    <p:sldId id="267" r:id="rId8"/>
    <p:sldId id="269" r:id="rId9"/>
    <p:sldId id="270" r:id="rId10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96" d="100"/>
          <a:sy n="96" d="100"/>
        </p:scale>
        <p:origin x="636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128460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42A5F5"/>
          </a:solidFill>
          <a:ln w="12700">
            <a:solidFill>
              <a:srgbClr val="42A5F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57200"/>
            <a:ext cx="1371600" cy="5029200"/>
          </a:xfrm>
          <a:prstGeom prst="rect">
            <a:avLst/>
          </a:prstGeom>
          <a:solidFill>
            <a:srgbClr val="162235">
              <a:alpha val="40000"/>
            </a:srgbClr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554480" y="457200"/>
            <a:ext cx="1371600" cy="5029200"/>
          </a:xfrm>
          <a:prstGeom prst="rect">
            <a:avLst/>
          </a:prstGeom>
          <a:solidFill>
            <a:srgbClr val="162235">
              <a:alpha val="40000"/>
            </a:srgbClr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108960" y="457200"/>
            <a:ext cx="1371600" cy="5029200"/>
          </a:xfrm>
          <a:prstGeom prst="rect">
            <a:avLst/>
          </a:prstGeom>
          <a:solidFill>
            <a:srgbClr val="162235">
              <a:alpha val="40000"/>
            </a:srgbClr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663440" y="457200"/>
            <a:ext cx="1371600" cy="5029200"/>
          </a:xfrm>
          <a:prstGeom prst="rect">
            <a:avLst/>
          </a:prstGeom>
          <a:solidFill>
            <a:srgbClr val="162235">
              <a:alpha val="40000"/>
            </a:srgbClr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217920" y="457200"/>
            <a:ext cx="1371600" cy="5029200"/>
          </a:xfrm>
          <a:prstGeom prst="rect">
            <a:avLst/>
          </a:prstGeom>
          <a:solidFill>
            <a:srgbClr val="162235">
              <a:alpha val="40000"/>
            </a:srgbClr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772400" y="457200"/>
            <a:ext cx="1371600" cy="5029200"/>
          </a:xfrm>
          <a:prstGeom prst="rect">
            <a:avLst/>
          </a:prstGeom>
          <a:solidFill>
            <a:srgbClr val="162235">
              <a:alpha val="40000"/>
            </a:srgbClr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97280" y="914400"/>
            <a:ext cx="1645920" cy="50292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97280" y="91440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FTP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3886200" y="914400"/>
            <a:ext cx="1645920" cy="502920"/>
          </a:xfrm>
          <a:prstGeom prst="rect">
            <a:avLst/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886200" y="91440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SFTP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6675120" y="914400"/>
            <a:ext cx="1645920" cy="502920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675120" y="91440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TFTP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457200" y="16002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FFFFF"/>
                </a:solidFill>
                <a:effectLst>
                  <a:glow rad="127000">
                    <a:srgbClr val="42A5F5">
                      <a:alpha val="30000"/>
                    </a:srgbClr>
                  </a:glow>
                </a:effectLst>
              </a:rPr>
              <a:t>File Transfer Protocols</a:t>
            </a:r>
            <a:endParaRPr lang="en-US" sz="4400" dirty="0"/>
          </a:p>
        </p:txBody>
      </p:sp>
      <p:sp>
        <p:nvSpPr>
          <p:cNvPr id="16" name="Text 14"/>
          <p:cNvSpPr/>
          <p:nvPr/>
        </p:nvSpPr>
        <p:spPr>
          <a:xfrm>
            <a:off x="457200" y="2514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i="1" dirty="0">
                <a:solidFill>
                  <a:srgbClr val="B0BEC5"/>
                </a:solidFill>
              </a:rPr>
              <a:t>A Comprehensive Technical Overview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502920" y="3154680"/>
            <a:ext cx="2560320" cy="1508760"/>
          </a:xfrm>
          <a:prstGeom prst="rect">
            <a:avLst/>
          </a:prstGeom>
          <a:solidFill>
            <a:srgbClr val="162235"/>
          </a:solidFill>
          <a:ln w="25400">
            <a:solidFill>
              <a:srgbClr val="1565C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02920" y="3154680"/>
            <a:ext cx="2560320" cy="73152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2920" y="320040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</a:rPr>
              <a:t>FTP</a:t>
            </a:r>
            <a:endParaRPr lang="en-US" sz="2600" dirty="0"/>
          </a:p>
        </p:txBody>
      </p:sp>
      <p:sp>
        <p:nvSpPr>
          <p:cNvPr id="20" name="Text 18"/>
          <p:cNvSpPr/>
          <p:nvPr/>
        </p:nvSpPr>
        <p:spPr>
          <a:xfrm>
            <a:off x="502920" y="374904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B0BEC5"/>
                </a:solidFill>
              </a:rPr>
              <a:t>File Transfer Protocol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02920" y="411480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1565C0"/>
                </a:solidFill>
              </a:rPr>
              <a:t>RFC 959 · Port 20/21 · TCP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3401568" y="3154680"/>
            <a:ext cx="2560320" cy="1508760"/>
          </a:xfrm>
          <a:prstGeom prst="rect">
            <a:avLst/>
          </a:prstGeom>
          <a:solidFill>
            <a:srgbClr val="162235"/>
          </a:solidFill>
          <a:ln w="25400">
            <a:solidFill>
              <a:srgbClr val="1B5E2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401568" y="3154680"/>
            <a:ext cx="2560320" cy="73152"/>
          </a:xfrm>
          <a:prstGeom prst="rect">
            <a:avLst/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401568" y="320040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</a:rPr>
              <a:t>SFTP</a:t>
            </a:r>
            <a:endParaRPr lang="en-US" sz="2600" dirty="0"/>
          </a:p>
        </p:txBody>
      </p:sp>
      <p:sp>
        <p:nvSpPr>
          <p:cNvPr id="25" name="Text 23"/>
          <p:cNvSpPr/>
          <p:nvPr/>
        </p:nvSpPr>
        <p:spPr>
          <a:xfrm>
            <a:off x="3401568" y="374904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B0BEC5"/>
                </a:solidFill>
              </a:rPr>
              <a:t>SSH File Transfer Protocol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3401568" y="411480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1B5E20"/>
                </a:solidFill>
              </a:rPr>
              <a:t>RFC 913 · Port 22 · SSH/TCP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6291072" y="3154680"/>
            <a:ext cx="2560320" cy="1508760"/>
          </a:xfrm>
          <a:prstGeom prst="rect">
            <a:avLst/>
          </a:prstGeom>
          <a:solidFill>
            <a:srgbClr val="162235"/>
          </a:solidFill>
          <a:ln w="25400">
            <a:solidFill>
              <a:srgbClr val="E6510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291072" y="3154680"/>
            <a:ext cx="2560320" cy="73152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291072" y="320040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</a:rPr>
              <a:t>TFTP</a:t>
            </a:r>
            <a:endParaRPr lang="en-US" sz="2600" dirty="0"/>
          </a:p>
        </p:txBody>
      </p:sp>
      <p:sp>
        <p:nvSpPr>
          <p:cNvPr id="30" name="Text 28"/>
          <p:cNvSpPr/>
          <p:nvPr/>
        </p:nvSpPr>
        <p:spPr>
          <a:xfrm>
            <a:off x="6291072" y="374904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B0BEC5"/>
                </a:solidFill>
              </a:rPr>
              <a:t>Trivial File Transfer Protocol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6291072" y="411480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E65100"/>
                </a:solidFill>
              </a:rPr>
              <a:t>RFC 1350 · Port 69 · UDP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0" y="4960620"/>
            <a:ext cx="9144000" cy="18288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57200" y="4919472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0A4AE"/>
                </a:solidFill>
              </a:rPr>
              <a:t>Network Protocols · Computer Science · Data Communication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80160" cy="685800"/>
          </a:xfrm>
          <a:prstGeom prst="rect">
            <a:avLst/>
          </a:prstGeom>
          <a:solidFill>
            <a:srgbClr val="0D47A1"/>
          </a:solidFill>
          <a:ln w="12700">
            <a:solidFill>
              <a:srgbClr val="0D47A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0" y="0"/>
            <a:ext cx="12801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</a:rPr>
              <a:t>FTP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1371600" y="914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File Transfer Protocol — RFC 959 (1985)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371600" y="393192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000" dirty="0">
                <a:solidFill>
                  <a:schemeClr val="bg1"/>
                </a:solidFill>
              </a:rPr>
              <a:t>FTP (File Transfer Protocol) is a standard protocol used to transfer files between a client and a server over a network.</a:t>
            </a:r>
          </a:p>
        </p:txBody>
      </p:sp>
      <p:sp>
        <p:nvSpPr>
          <p:cNvPr id="7" name="Shape 5"/>
          <p:cNvSpPr/>
          <p:nvPr/>
        </p:nvSpPr>
        <p:spPr>
          <a:xfrm>
            <a:off x="182880" y="822960"/>
            <a:ext cx="4114800" cy="457200"/>
          </a:xfrm>
          <a:prstGeom prst="rect">
            <a:avLst/>
          </a:prstGeom>
          <a:solidFill>
            <a:srgbClr val="162235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850392"/>
            <a:ext cx="15544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42A5F5"/>
                </a:solidFill>
              </a:rPr>
              <a:t>Protocol Type: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828800" y="850392"/>
            <a:ext cx="23774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0F4FF"/>
                </a:solidFill>
              </a:rPr>
              <a:t>Application Layer (OSI 7)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2880" y="1335024"/>
            <a:ext cx="4114800" cy="457200"/>
          </a:xfrm>
          <a:prstGeom prst="rect">
            <a:avLst/>
          </a:prstGeom>
          <a:solidFill>
            <a:srgbClr val="0F1C2E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4320" y="1362456"/>
            <a:ext cx="15544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42A5F5"/>
                </a:solidFill>
              </a:rPr>
              <a:t>Transport: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828800" y="1362456"/>
            <a:ext cx="23774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0F4FF"/>
                </a:solidFill>
              </a:rPr>
              <a:t>TCP — Reliable delivery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2880" y="1847088"/>
            <a:ext cx="4114800" cy="457200"/>
          </a:xfrm>
          <a:prstGeom prst="rect">
            <a:avLst/>
          </a:prstGeom>
          <a:solidFill>
            <a:srgbClr val="162235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74320" y="1874520"/>
            <a:ext cx="15544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42A5F5"/>
                </a:solidFill>
              </a:rPr>
              <a:t>Control Port: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828800" y="1874520"/>
            <a:ext cx="23774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0F4FF"/>
                </a:solidFill>
              </a:rPr>
              <a:t>21 — Commands &amp; Responses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182880" y="2359152"/>
            <a:ext cx="4114800" cy="457200"/>
          </a:xfrm>
          <a:prstGeom prst="rect">
            <a:avLst/>
          </a:prstGeom>
          <a:solidFill>
            <a:srgbClr val="0F1C2E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74320" y="2386584"/>
            <a:ext cx="15544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42A5F5"/>
                </a:solidFill>
              </a:rPr>
              <a:t>Data Port: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828800" y="2386584"/>
            <a:ext cx="23774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0F4FF"/>
                </a:solidFill>
              </a:rPr>
              <a:t>20 — Actual file data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182880" y="2871216"/>
            <a:ext cx="4114800" cy="457200"/>
          </a:xfrm>
          <a:prstGeom prst="rect">
            <a:avLst/>
          </a:prstGeom>
          <a:solidFill>
            <a:srgbClr val="162235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74320" y="2898648"/>
            <a:ext cx="15544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42A5F5"/>
                </a:solidFill>
              </a:rPr>
              <a:t>Authentication: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1828800" y="2898648"/>
            <a:ext cx="23774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0F4FF"/>
                </a:solidFill>
              </a:rPr>
              <a:t>Username + Password (plaintext)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182880" y="3383280"/>
            <a:ext cx="4114800" cy="457200"/>
          </a:xfrm>
          <a:prstGeom prst="rect">
            <a:avLst/>
          </a:prstGeom>
          <a:solidFill>
            <a:srgbClr val="0F1C2E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74320" y="3410712"/>
            <a:ext cx="15544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42A5F5"/>
                </a:solidFill>
              </a:rPr>
              <a:t>Encryption: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1828800" y="3410712"/>
            <a:ext cx="23774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0F4FF"/>
                </a:solidFill>
              </a:rPr>
              <a:t>None (credentials exposed)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274320" y="3922776"/>
            <a:ext cx="15544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1828800" y="3922776"/>
            <a:ext cx="23774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182880" y="3920386"/>
            <a:ext cx="4114800" cy="457200"/>
          </a:xfrm>
          <a:prstGeom prst="rect">
            <a:avLst/>
          </a:prstGeom>
          <a:solidFill>
            <a:srgbClr val="0F1C2E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74320" y="3957763"/>
            <a:ext cx="15544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42A5F5"/>
                </a:solidFill>
              </a:rPr>
              <a:t>RFC: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1828800" y="3957763"/>
            <a:ext cx="23774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0F4FF"/>
                </a:solidFill>
              </a:rPr>
              <a:t>RFC 959, RFC 3659 (extensions)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4663440" y="777240"/>
            <a:ext cx="4297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D600"/>
                </a:solidFill>
              </a:rPr>
              <a:t>Active vs Passive Mode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4663440" y="1188720"/>
            <a:ext cx="2011680" cy="1325880"/>
          </a:xfrm>
          <a:prstGeom prst="rect">
            <a:avLst/>
          </a:prstGeom>
          <a:solidFill>
            <a:srgbClr val="162235"/>
          </a:solidFill>
          <a:ln w="25400">
            <a:solidFill>
              <a:srgbClr val="1565C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663440" y="1188720"/>
            <a:ext cx="2011680" cy="292608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663440" y="1188720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ACTIVE MODE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4754880" y="1527048"/>
            <a:ext cx="1828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0F4FF"/>
                </a:solidFill>
              </a:rPr>
              <a:t>1. Client→Server: PORT cmd on port 21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4754880" y="1856232"/>
            <a:ext cx="1828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chemeClr val="bg1"/>
                </a:solidFill>
              </a:rPr>
              <a:t>2. In active mode, the server connects back to the client.</a:t>
            </a:r>
          </a:p>
        </p:txBody>
      </p:sp>
      <p:sp>
        <p:nvSpPr>
          <p:cNvPr id="37" name="Text 35"/>
          <p:cNvSpPr/>
          <p:nvPr/>
        </p:nvSpPr>
        <p:spPr>
          <a:xfrm>
            <a:off x="4754880" y="2185416"/>
            <a:ext cx="1828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850" dirty="0"/>
          </a:p>
        </p:txBody>
      </p:sp>
      <p:sp>
        <p:nvSpPr>
          <p:cNvPr id="38" name="Text 36"/>
          <p:cNvSpPr/>
          <p:nvPr/>
        </p:nvSpPr>
        <p:spPr>
          <a:xfrm>
            <a:off x="4754880" y="2514600"/>
            <a:ext cx="1828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6903720" y="1188720"/>
            <a:ext cx="2057400" cy="1325880"/>
          </a:xfrm>
          <a:prstGeom prst="rect">
            <a:avLst/>
          </a:prstGeom>
          <a:solidFill>
            <a:srgbClr val="162235"/>
          </a:solidFill>
          <a:ln w="25400">
            <a:solidFill>
              <a:srgbClr val="42A5F5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6903720" y="1188720"/>
            <a:ext cx="2057400" cy="292608"/>
          </a:xfrm>
          <a:prstGeom prst="rect">
            <a:avLst/>
          </a:prstGeom>
          <a:solidFill>
            <a:srgbClr val="42A5F5"/>
          </a:solidFill>
          <a:ln w="12700">
            <a:solidFill>
              <a:srgbClr val="42A5F5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903720" y="1188720"/>
            <a:ext cx="2057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D1B2A"/>
                </a:solidFill>
              </a:rPr>
              <a:t>PASSIVE MODE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6995160" y="1527048"/>
            <a:ext cx="19202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0F4FF"/>
                </a:solidFill>
              </a:rPr>
              <a:t>1. Client→Server: PASV cmd on port 21</a:t>
            </a:r>
            <a:endParaRPr lang="en-US" sz="850" dirty="0"/>
          </a:p>
        </p:txBody>
      </p:sp>
      <p:sp>
        <p:nvSpPr>
          <p:cNvPr id="43" name="Text 41"/>
          <p:cNvSpPr/>
          <p:nvPr/>
        </p:nvSpPr>
        <p:spPr>
          <a:xfrm>
            <a:off x="6995160" y="1856232"/>
            <a:ext cx="19202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0F4FF"/>
                </a:solidFill>
              </a:rPr>
              <a:t>2. In passive mode , the client connects to the server (firewall friendly).</a:t>
            </a:r>
            <a:endParaRPr lang="en-US" sz="850" dirty="0"/>
          </a:p>
        </p:txBody>
      </p:sp>
      <p:sp>
        <p:nvSpPr>
          <p:cNvPr id="44" name="Text 42"/>
          <p:cNvSpPr/>
          <p:nvPr/>
        </p:nvSpPr>
        <p:spPr>
          <a:xfrm>
            <a:off x="6995160" y="2185416"/>
            <a:ext cx="19202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850" dirty="0"/>
          </a:p>
        </p:txBody>
      </p:sp>
      <p:sp>
        <p:nvSpPr>
          <p:cNvPr id="45" name="Text 43"/>
          <p:cNvSpPr/>
          <p:nvPr/>
        </p:nvSpPr>
        <p:spPr>
          <a:xfrm>
            <a:off x="6995160" y="2514600"/>
            <a:ext cx="19202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850" dirty="0"/>
          </a:p>
        </p:txBody>
      </p:sp>
      <p:sp>
        <p:nvSpPr>
          <p:cNvPr id="46" name="Text 44"/>
          <p:cNvSpPr/>
          <p:nvPr/>
        </p:nvSpPr>
        <p:spPr>
          <a:xfrm>
            <a:off x="4663440" y="2670048"/>
            <a:ext cx="4297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D600"/>
                </a:solidFill>
              </a:rPr>
              <a:t>Core FTP Commands</a:t>
            </a:r>
            <a:endParaRPr lang="en-US" sz="1200" dirty="0"/>
          </a:p>
        </p:txBody>
      </p:sp>
      <p:sp>
        <p:nvSpPr>
          <p:cNvPr id="47" name="Shape 45"/>
          <p:cNvSpPr/>
          <p:nvPr/>
        </p:nvSpPr>
        <p:spPr>
          <a:xfrm>
            <a:off x="4663440" y="3056961"/>
            <a:ext cx="2057400" cy="292608"/>
          </a:xfrm>
          <a:prstGeom prst="rect">
            <a:avLst/>
          </a:prstGeom>
          <a:solidFill>
            <a:srgbClr val="162235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4663440" y="3056961"/>
            <a:ext cx="621792" cy="292608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663440" y="3056961"/>
            <a:ext cx="6217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USER</a:t>
            </a:r>
            <a:endParaRPr lang="en-US" sz="800" dirty="0"/>
          </a:p>
        </p:txBody>
      </p:sp>
      <p:sp>
        <p:nvSpPr>
          <p:cNvPr id="50" name="Text 48"/>
          <p:cNvSpPr/>
          <p:nvPr/>
        </p:nvSpPr>
        <p:spPr>
          <a:xfrm>
            <a:off x="5321808" y="3056961"/>
            <a:ext cx="1371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0F4FF"/>
                </a:solidFill>
              </a:rPr>
              <a:t>Send username</a:t>
            </a:r>
            <a:endParaRPr lang="en-US" sz="800" dirty="0"/>
          </a:p>
        </p:txBody>
      </p:sp>
      <p:sp>
        <p:nvSpPr>
          <p:cNvPr id="51" name="Shape 49"/>
          <p:cNvSpPr/>
          <p:nvPr/>
        </p:nvSpPr>
        <p:spPr>
          <a:xfrm>
            <a:off x="6812280" y="3056961"/>
            <a:ext cx="2057400" cy="292608"/>
          </a:xfrm>
          <a:prstGeom prst="rect">
            <a:avLst/>
          </a:prstGeom>
          <a:solidFill>
            <a:srgbClr val="162235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6812280" y="3056961"/>
            <a:ext cx="621792" cy="292608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6812280" y="3056961"/>
            <a:ext cx="6217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PASS</a:t>
            </a:r>
            <a:endParaRPr lang="en-US" sz="800" dirty="0"/>
          </a:p>
        </p:txBody>
      </p:sp>
      <p:sp>
        <p:nvSpPr>
          <p:cNvPr id="54" name="Text 52"/>
          <p:cNvSpPr/>
          <p:nvPr/>
        </p:nvSpPr>
        <p:spPr>
          <a:xfrm>
            <a:off x="7470648" y="3056961"/>
            <a:ext cx="1371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0F4FF"/>
                </a:solidFill>
              </a:rPr>
              <a:t>Send password</a:t>
            </a:r>
            <a:endParaRPr lang="en-US" sz="800" dirty="0"/>
          </a:p>
        </p:txBody>
      </p:sp>
      <p:sp>
        <p:nvSpPr>
          <p:cNvPr id="55" name="Shape 53"/>
          <p:cNvSpPr/>
          <p:nvPr/>
        </p:nvSpPr>
        <p:spPr>
          <a:xfrm>
            <a:off x="4663440" y="3386145"/>
            <a:ext cx="2057400" cy="292608"/>
          </a:xfrm>
          <a:prstGeom prst="rect">
            <a:avLst/>
          </a:prstGeom>
          <a:solidFill>
            <a:srgbClr val="162235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4663440" y="3386145"/>
            <a:ext cx="621792" cy="292608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4663440" y="3386145"/>
            <a:ext cx="6217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LIST</a:t>
            </a:r>
            <a:endParaRPr lang="en-US" sz="800" dirty="0"/>
          </a:p>
        </p:txBody>
      </p:sp>
      <p:sp>
        <p:nvSpPr>
          <p:cNvPr id="58" name="Text 56"/>
          <p:cNvSpPr/>
          <p:nvPr/>
        </p:nvSpPr>
        <p:spPr>
          <a:xfrm>
            <a:off x="5321808" y="3386145"/>
            <a:ext cx="1371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0F4FF"/>
                </a:solidFill>
              </a:rPr>
              <a:t>List directory</a:t>
            </a:r>
            <a:endParaRPr lang="en-US" sz="800" dirty="0"/>
          </a:p>
        </p:txBody>
      </p:sp>
      <p:sp>
        <p:nvSpPr>
          <p:cNvPr id="59" name="Shape 57"/>
          <p:cNvSpPr/>
          <p:nvPr/>
        </p:nvSpPr>
        <p:spPr>
          <a:xfrm>
            <a:off x="6812280" y="3386145"/>
            <a:ext cx="2057400" cy="292608"/>
          </a:xfrm>
          <a:prstGeom prst="rect">
            <a:avLst/>
          </a:prstGeom>
          <a:solidFill>
            <a:srgbClr val="162235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6812280" y="3386145"/>
            <a:ext cx="621792" cy="292608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6812280" y="3386145"/>
            <a:ext cx="6217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RETR</a:t>
            </a:r>
            <a:endParaRPr lang="en-US" sz="800" dirty="0"/>
          </a:p>
        </p:txBody>
      </p:sp>
      <p:sp>
        <p:nvSpPr>
          <p:cNvPr id="62" name="Text 60"/>
          <p:cNvSpPr/>
          <p:nvPr/>
        </p:nvSpPr>
        <p:spPr>
          <a:xfrm>
            <a:off x="7470648" y="3386145"/>
            <a:ext cx="1371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0F4FF"/>
                </a:solidFill>
              </a:rPr>
              <a:t>Download file</a:t>
            </a:r>
            <a:endParaRPr lang="en-US" sz="800" dirty="0"/>
          </a:p>
        </p:txBody>
      </p:sp>
      <p:sp>
        <p:nvSpPr>
          <p:cNvPr id="63" name="Shape 61"/>
          <p:cNvSpPr/>
          <p:nvPr/>
        </p:nvSpPr>
        <p:spPr>
          <a:xfrm>
            <a:off x="4663440" y="3715329"/>
            <a:ext cx="2057400" cy="292608"/>
          </a:xfrm>
          <a:prstGeom prst="rect">
            <a:avLst/>
          </a:prstGeom>
          <a:solidFill>
            <a:srgbClr val="162235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4663440" y="3715329"/>
            <a:ext cx="621792" cy="292608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4663440" y="3715329"/>
            <a:ext cx="6217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STOR</a:t>
            </a:r>
            <a:endParaRPr lang="en-US" sz="800" dirty="0"/>
          </a:p>
        </p:txBody>
      </p:sp>
      <p:sp>
        <p:nvSpPr>
          <p:cNvPr id="66" name="Text 64"/>
          <p:cNvSpPr/>
          <p:nvPr/>
        </p:nvSpPr>
        <p:spPr>
          <a:xfrm>
            <a:off x="5321808" y="3715329"/>
            <a:ext cx="1371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0F4FF"/>
                </a:solidFill>
              </a:rPr>
              <a:t>Upload file</a:t>
            </a:r>
            <a:endParaRPr lang="en-US" sz="800" dirty="0"/>
          </a:p>
        </p:txBody>
      </p:sp>
      <p:sp>
        <p:nvSpPr>
          <p:cNvPr id="67" name="Shape 65"/>
          <p:cNvSpPr/>
          <p:nvPr/>
        </p:nvSpPr>
        <p:spPr>
          <a:xfrm>
            <a:off x="6812280" y="3715329"/>
            <a:ext cx="2057400" cy="292608"/>
          </a:xfrm>
          <a:prstGeom prst="rect">
            <a:avLst/>
          </a:prstGeom>
          <a:solidFill>
            <a:srgbClr val="162235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6812280" y="3715329"/>
            <a:ext cx="621792" cy="292608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6812280" y="3715329"/>
            <a:ext cx="6217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DELE</a:t>
            </a:r>
            <a:endParaRPr lang="en-US" sz="800" dirty="0"/>
          </a:p>
        </p:txBody>
      </p:sp>
      <p:sp>
        <p:nvSpPr>
          <p:cNvPr id="70" name="Text 68"/>
          <p:cNvSpPr/>
          <p:nvPr/>
        </p:nvSpPr>
        <p:spPr>
          <a:xfrm>
            <a:off x="7470648" y="3715329"/>
            <a:ext cx="1371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0F4FF"/>
                </a:solidFill>
              </a:rPr>
              <a:t>Delete file</a:t>
            </a:r>
            <a:endParaRPr lang="en-US" sz="800" dirty="0"/>
          </a:p>
        </p:txBody>
      </p:sp>
      <p:sp>
        <p:nvSpPr>
          <p:cNvPr id="71" name="Shape 69"/>
          <p:cNvSpPr/>
          <p:nvPr/>
        </p:nvSpPr>
        <p:spPr>
          <a:xfrm>
            <a:off x="4663440" y="4044513"/>
            <a:ext cx="2057400" cy="292608"/>
          </a:xfrm>
          <a:prstGeom prst="rect">
            <a:avLst/>
          </a:prstGeom>
          <a:solidFill>
            <a:srgbClr val="162235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4663440" y="4044513"/>
            <a:ext cx="621792" cy="292608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4663440" y="4044513"/>
            <a:ext cx="6217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MKD</a:t>
            </a:r>
            <a:endParaRPr lang="en-US" sz="800" dirty="0"/>
          </a:p>
        </p:txBody>
      </p:sp>
      <p:sp>
        <p:nvSpPr>
          <p:cNvPr id="74" name="Text 72"/>
          <p:cNvSpPr/>
          <p:nvPr/>
        </p:nvSpPr>
        <p:spPr>
          <a:xfrm>
            <a:off x="5321808" y="4044513"/>
            <a:ext cx="1371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0F4FF"/>
                </a:solidFill>
              </a:rPr>
              <a:t>Make directory</a:t>
            </a:r>
            <a:endParaRPr lang="en-US" sz="800" dirty="0"/>
          </a:p>
        </p:txBody>
      </p:sp>
      <p:sp>
        <p:nvSpPr>
          <p:cNvPr id="75" name="Shape 73"/>
          <p:cNvSpPr/>
          <p:nvPr/>
        </p:nvSpPr>
        <p:spPr>
          <a:xfrm>
            <a:off x="6812280" y="4044513"/>
            <a:ext cx="2057400" cy="292608"/>
          </a:xfrm>
          <a:prstGeom prst="rect">
            <a:avLst/>
          </a:prstGeom>
          <a:solidFill>
            <a:srgbClr val="162235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6812280" y="4044513"/>
            <a:ext cx="621792" cy="292608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6812280" y="4044513"/>
            <a:ext cx="6217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PWD</a:t>
            </a:r>
            <a:endParaRPr lang="en-US" sz="800" dirty="0"/>
          </a:p>
        </p:txBody>
      </p:sp>
      <p:sp>
        <p:nvSpPr>
          <p:cNvPr id="78" name="Text 76"/>
          <p:cNvSpPr/>
          <p:nvPr/>
        </p:nvSpPr>
        <p:spPr>
          <a:xfrm>
            <a:off x="7470648" y="4044513"/>
            <a:ext cx="1371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0F4FF"/>
                </a:solidFill>
              </a:rPr>
              <a:t>Print working dir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80160" cy="685800"/>
          </a:xfrm>
          <a:prstGeom prst="rect">
            <a:avLst/>
          </a:prstGeom>
          <a:solidFill>
            <a:srgbClr val="1A3C1E"/>
          </a:solidFill>
          <a:ln w="12700">
            <a:solidFill>
              <a:srgbClr val="1A3C1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0" y="0"/>
            <a:ext cx="12801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</a:rPr>
              <a:t>SFTP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1371600" y="914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SSH File Transfer Protocol — SSH2 Extension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371600" y="393192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000" dirty="0">
                <a:solidFill>
                  <a:schemeClr val="bg1"/>
                </a:solidFill>
              </a:rPr>
              <a:t>SFTP (Secure File Transfer Protocol) is a secure version of file transfer that works over SSH.</a:t>
            </a:r>
          </a:p>
        </p:txBody>
      </p:sp>
      <p:sp>
        <p:nvSpPr>
          <p:cNvPr id="7" name="Shape 5"/>
          <p:cNvSpPr/>
          <p:nvPr/>
        </p:nvSpPr>
        <p:spPr>
          <a:xfrm>
            <a:off x="182880" y="822960"/>
            <a:ext cx="4114800" cy="457200"/>
          </a:xfrm>
          <a:prstGeom prst="rect">
            <a:avLst/>
          </a:prstGeom>
          <a:solidFill>
            <a:srgbClr val="162235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850392"/>
            <a:ext cx="15544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66BB6A"/>
                </a:solidFill>
              </a:rPr>
              <a:t>Protocol Type: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828800" y="850392"/>
            <a:ext cx="23774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0F4FF"/>
                </a:solidFill>
              </a:rPr>
              <a:t>SSH2 subsystem (not FTP-based)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2880" y="1335024"/>
            <a:ext cx="4114800" cy="457200"/>
          </a:xfrm>
          <a:prstGeom prst="rect">
            <a:avLst/>
          </a:prstGeom>
          <a:solidFill>
            <a:srgbClr val="0F1C2E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4320" y="1362456"/>
            <a:ext cx="15544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66BB6A"/>
                </a:solidFill>
              </a:rPr>
              <a:t>Transport: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828800" y="1362456"/>
            <a:ext cx="23774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0F4FF"/>
                </a:solidFill>
              </a:rPr>
              <a:t>TCP via SSH tunnel — encrypted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2880" y="1847088"/>
            <a:ext cx="4114800" cy="457200"/>
          </a:xfrm>
          <a:prstGeom prst="rect">
            <a:avLst/>
          </a:prstGeom>
          <a:solidFill>
            <a:srgbClr val="162235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74320" y="1874520"/>
            <a:ext cx="15544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66BB6A"/>
                </a:solidFill>
              </a:rPr>
              <a:t>Port: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828800" y="1874520"/>
            <a:ext cx="23774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0F4FF"/>
                </a:solidFill>
              </a:rPr>
              <a:t>22 — Single port for all data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182880" y="2359152"/>
            <a:ext cx="4114800" cy="457200"/>
          </a:xfrm>
          <a:prstGeom prst="rect">
            <a:avLst/>
          </a:prstGeom>
          <a:solidFill>
            <a:srgbClr val="0F1C2E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74320" y="2386584"/>
            <a:ext cx="15544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66BB6A"/>
                </a:solidFill>
              </a:rPr>
              <a:t>Authentication: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828800" y="2386584"/>
            <a:ext cx="23774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0F4FF"/>
                </a:solidFill>
              </a:rPr>
              <a:t>Password + SSH public key pairs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182880" y="2871216"/>
            <a:ext cx="4114800" cy="457200"/>
          </a:xfrm>
          <a:prstGeom prst="rect">
            <a:avLst/>
          </a:prstGeom>
          <a:solidFill>
            <a:srgbClr val="162235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74320" y="2898648"/>
            <a:ext cx="15544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66BB6A"/>
                </a:solidFill>
              </a:rPr>
              <a:t>Encryption: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1828800" y="2898648"/>
            <a:ext cx="23774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0F4FF"/>
                </a:solidFill>
              </a:rPr>
              <a:t>AES, 3DES, Blowfish, ChaCha20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274320" y="3410712"/>
            <a:ext cx="15544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1828800" y="3410712"/>
            <a:ext cx="23774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2880" y="3411248"/>
            <a:ext cx="4114800" cy="457200"/>
          </a:xfrm>
          <a:prstGeom prst="rect">
            <a:avLst/>
          </a:prstGeom>
          <a:solidFill>
            <a:srgbClr val="162235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74320" y="3411785"/>
            <a:ext cx="15544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66BB6A"/>
                </a:solidFill>
              </a:rPr>
              <a:t>RFC: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1828800" y="3411785"/>
            <a:ext cx="23774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0F4FF"/>
                </a:solidFill>
              </a:rPr>
              <a:t>SSH2 IETF draft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274320" y="4434840"/>
            <a:ext cx="15544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1828800" y="4434840"/>
            <a:ext cx="23774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4663440" y="777240"/>
            <a:ext cx="4297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D600"/>
                </a:solidFill>
              </a:rPr>
              <a:t>SFTP Architecture (SSH Layers)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4663440" y="1234440"/>
            <a:ext cx="4297680" cy="475488"/>
          </a:xfrm>
          <a:prstGeom prst="rect">
            <a:avLst/>
          </a:prstGeom>
          <a:solidFill>
            <a:srgbClr val="1B5E2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754880" y="1261872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SFTP Client Application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4754880" y="1499616"/>
            <a:ext cx="4114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8F5E9"/>
                </a:solidFill>
              </a:rPr>
              <a:t>User interface / scripts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4663440" y="1764792"/>
            <a:ext cx="4297680" cy="475488"/>
          </a:xfrm>
          <a:prstGeom prst="rect">
            <a:avLst/>
          </a:prstGeom>
          <a:solidFill>
            <a:srgbClr val="2E7D3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754880" y="1792224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SFTP Protocol Layer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4754880" y="2029968"/>
            <a:ext cx="4114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8F5E9"/>
                </a:solidFill>
              </a:rPr>
              <a:t>File ops: read, write, list, rename…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4663440" y="2295144"/>
            <a:ext cx="4297680" cy="475488"/>
          </a:xfrm>
          <a:prstGeom prst="rect">
            <a:avLst/>
          </a:prstGeom>
          <a:solidFill>
            <a:srgbClr val="388E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754880" y="2322576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SSH Connection Layer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4754880" y="2560320"/>
            <a:ext cx="4114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8F5E9"/>
                </a:solidFill>
              </a:rPr>
              <a:t>Channel multiplexing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4663440" y="2825496"/>
            <a:ext cx="4297680" cy="475488"/>
          </a:xfrm>
          <a:prstGeom prst="rect">
            <a:avLst/>
          </a:prstGeom>
          <a:solidFill>
            <a:srgbClr val="43A047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754880" y="2852928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SSH User Auth Layer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4754880" y="3090672"/>
            <a:ext cx="4114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8F5E9"/>
                </a:solidFill>
              </a:rPr>
              <a:t>Password / Public-key auth</a:t>
            </a:r>
            <a:endParaRPr lang="en-US" sz="850" dirty="0"/>
          </a:p>
        </p:txBody>
      </p:sp>
      <p:sp>
        <p:nvSpPr>
          <p:cNvPr id="44" name="Shape 42"/>
          <p:cNvSpPr/>
          <p:nvPr/>
        </p:nvSpPr>
        <p:spPr>
          <a:xfrm>
            <a:off x="4663440" y="3355848"/>
            <a:ext cx="4297680" cy="475488"/>
          </a:xfrm>
          <a:prstGeom prst="rect">
            <a:avLst/>
          </a:prstGeom>
          <a:solidFill>
            <a:srgbClr val="4CAF5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754880" y="3383280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SSH Transport Layer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4754880" y="3621024"/>
            <a:ext cx="4114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8F5E9"/>
                </a:solidFill>
              </a:rPr>
              <a:t>Encryption + integrity (MAC)</a:t>
            </a:r>
            <a:endParaRPr lang="en-US" sz="850" dirty="0"/>
          </a:p>
        </p:txBody>
      </p:sp>
      <p:sp>
        <p:nvSpPr>
          <p:cNvPr id="47" name="Shape 45"/>
          <p:cNvSpPr/>
          <p:nvPr/>
        </p:nvSpPr>
        <p:spPr>
          <a:xfrm>
            <a:off x="4663440" y="3886200"/>
            <a:ext cx="4297680" cy="475488"/>
          </a:xfrm>
          <a:prstGeom prst="rect">
            <a:avLst/>
          </a:prstGeom>
          <a:solidFill>
            <a:srgbClr val="37474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754880" y="3913632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TCP / IP Network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4754880" y="4151376"/>
            <a:ext cx="4114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8F5E9"/>
                </a:solidFill>
              </a:rPr>
              <a:t>Port 22 · Reliable delivery</a:t>
            </a:r>
            <a:endParaRPr lang="en-US" sz="850" dirty="0"/>
          </a:p>
        </p:txBody>
      </p:sp>
      <p:sp>
        <p:nvSpPr>
          <p:cNvPr id="50" name="Text 48"/>
          <p:cNvSpPr/>
          <p:nvPr/>
        </p:nvSpPr>
        <p:spPr>
          <a:xfrm>
            <a:off x="182880" y="4365805"/>
            <a:ext cx="8778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D600"/>
                </a:solidFill>
              </a:rPr>
              <a:t>Key SFTP Operations (Packet Types)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182880" y="4640125"/>
            <a:ext cx="1051560" cy="237744"/>
          </a:xfrm>
          <a:prstGeom prst="rect">
            <a:avLst/>
          </a:prstGeom>
          <a:solidFill>
            <a:srgbClr val="1A3C1E"/>
          </a:solidFill>
          <a:ln w="12700">
            <a:solidFill>
              <a:srgbClr val="66BB6A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182880" y="4640125"/>
            <a:ext cx="1051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66BB6A"/>
                </a:solidFill>
              </a:rPr>
              <a:t>SSH_FXP_OPEN</a:t>
            </a:r>
            <a:endParaRPr lang="en-US" sz="650" dirty="0"/>
          </a:p>
        </p:txBody>
      </p:sp>
      <p:sp>
        <p:nvSpPr>
          <p:cNvPr id="53" name="Shape 51"/>
          <p:cNvSpPr/>
          <p:nvPr/>
        </p:nvSpPr>
        <p:spPr>
          <a:xfrm>
            <a:off x="1298448" y="4640125"/>
            <a:ext cx="1051560" cy="237744"/>
          </a:xfrm>
          <a:prstGeom prst="rect">
            <a:avLst/>
          </a:prstGeom>
          <a:solidFill>
            <a:srgbClr val="1A3C1E"/>
          </a:solidFill>
          <a:ln w="12700">
            <a:solidFill>
              <a:srgbClr val="66BB6A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1298448" y="4640125"/>
            <a:ext cx="1051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66BB6A"/>
                </a:solidFill>
              </a:rPr>
              <a:t>SSH_FXP_READ</a:t>
            </a:r>
            <a:endParaRPr lang="en-US" sz="650" dirty="0"/>
          </a:p>
        </p:txBody>
      </p:sp>
      <p:sp>
        <p:nvSpPr>
          <p:cNvPr id="55" name="Shape 53"/>
          <p:cNvSpPr/>
          <p:nvPr/>
        </p:nvSpPr>
        <p:spPr>
          <a:xfrm>
            <a:off x="2414016" y="4640125"/>
            <a:ext cx="1051560" cy="237744"/>
          </a:xfrm>
          <a:prstGeom prst="rect">
            <a:avLst/>
          </a:prstGeom>
          <a:solidFill>
            <a:srgbClr val="1A3C1E"/>
          </a:solidFill>
          <a:ln w="12700">
            <a:solidFill>
              <a:srgbClr val="66BB6A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2414016" y="4640125"/>
            <a:ext cx="1051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66BB6A"/>
                </a:solidFill>
              </a:rPr>
              <a:t>SSH_FXP_WRITE</a:t>
            </a:r>
            <a:endParaRPr lang="en-US" sz="650" dirty="0"/>
          </a:p>
        </p:txBody>
      </p:sp>
      <p:sp>
        <p:nvSpPr>
          <p:cNvPr id="57" name="Shape 55"/>
          <p:cNvSpPr/>
          <p:nvPr/>
        </p:nvSpPr>
        <p:spPr>
          <a:xfrm>
            <a:off x="3529584" y="4640125"/>
            <a:ext cx="1051560" cy="237744"/>
          </a:xfrm>
          <a:prstGeom prst="rect">
            <a:avLst/>
          </a:prstGeom>
          <a:solidFill>
            <a:srgbClr val="1A3C1E"/>
          </a:solidFill>
          <a:ln w="12700">
            <a:solidFill>
              <a:srgbClr val="66BB6A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3529584" y="4640125"/>
            <a:ext cx="1051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66BB6A"/>
                </a:solidFill>
              </a:rPr>
              <a:t>SSH_FXP_LSTAT</a:t>
            </a:r>
            <a:endParaRPr lang="en-US" sz="650" dirty="0"/>
          </a:p>
        </p:txBody>
      </p:sp>
      <p:sp>
        <p:nvSpPr>
          <p:cNvPr id="59" name="Shape 57"/>
          <p:cNvSpPr/>
          <p:nvPr/>
        </p:nvSpPr>
        <p:spPr>
          <a:xfrm>
            <a:off x="4645152" y="4640125"/>
            <a:ext cx="1051560" cy="237744"/>
          </a:xfrm>
          <a:prstGeom prst="rect">
            <a:avLst/>
          </a:prstGeom>
          <a:solidFill>
            <a:srgbClr val="1A3C1E"/>
          </a:solidFill>
          <a:ln w="12700">
            <a:solidFill>
              <a:srgbClr val="66BB6A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4645152" y="4640125"/>
            <a:ext cx="1051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66BB6A"/>
                </a:solidFill>
              </a:rPr>
              <a:t>SSH_FXP_MKDIR</a:t>
            </a:r>
            <a:endParaRPr lang="en-US" sz="650" dirty="0"/>
          </a:p>
        </p:txBody>
      </p:sp>
      <p:sp>
        <p:nvSpPr>
          <p:cNvPr id="61" name="Shape 59"/>
          <p:cNvSpPr/>
          <p:nvPr/>
        </p:nvSpPr>
        <p:spPr>
          <a:xfrm>
            <a:off x="5760720" y="4640125"/>
            <a:ext cx="1051560" cy="237744"/>
          </a:xfrm>
          <a:prstGeom prst="rect">
            <a:avLst/>
          </a:prstGeom>
          <a:solidFill>
            <a:srgbClr val="1A3C1E"/>
          </a:solidFill>
          <a:ln w="12700">
            <a:solidFill>
              <a:srgbClr val="66BB6A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5760720" y="4640125"/>
            <a:ext cx="1051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66BB6A"/>
                </a:solidFill>
              </a:rPr>
              <a:t>SSH_FXP_REMOVE</a:t>
            </a:r>
            <a:endParaRPr lang="en-US" sz="650" dirty="0"/>
          </a:p>
        </p:txBody>
      </p:sp>
      <p:sp>
        <p:nvSpPr>
          <p:cNvPr id="63" name="Shape 61"/>
          <p:cNvSpPr/>
          <p:nvPr/>
        </p:nvSpPr>
        <p:spPr>
          <a:xfrm>
            <a:off x="6876288" y="4640125"/>
            <a:ext cx="1051560" cy="237744"/>
          </a:xfrm>
          <a:prstGeom prst="rect">
            <a:avLst/>
          </a:prstGeom>
          <a:solidFill>
            <a:srgbClr val="1A3C1E"/>
          </a:solidFill>
          <a:ln w="12700">
            <a:solidFill>
              <a:srgbClr val="66BB6A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6876288" y="4640125"/>
            <a:ext cx="1051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66BB6A"/>
                </a:solidFill>
              </a:rPr>
              <a:t>SSH_FXP_RENAME</a:t>
            </a:r>
            <a:endParaRPr lang="en-US" sz="650" dirty="0"/>
          </a:p>
        </p:txBody>
      </p:sp>
      <p:sp>
        <p:nvSpPr>
          <p:cNvPr id="65" name="Shape 63"/>
          <p:cNvSpPr/>
          <p:nvPr/>
        </p:nvSpPr>
        <p:spPr>
          <a:xfrm>
            <a:off x="7991856" y="4640125"/>
            <a:ext cx="1051560" cy="237744"/>
          </a:xfrm>
          <a:prstGeom prst="rect">
            <a:avLst/>
          </a:prstGeom>
          <a:solidFill>
            <a:srgbClr val="1A3C1E"/>
          </a:solidFill>
          <a:ln w="12700">
            <a:solidFill>
              <a:srgbClr val="66BB6A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7991856" y="4640125"/>
            <a:ext cx="1051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66BB6A"/>
                </a:solidFill>
              </a:rPr>
              <a:t>SSH_FXP_REALPATH</a:t>
            </a:r>
            <a:endParaRPr lang="en-US" sz="6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80160" cy="685800"/>
          </a:xfrm>
          <a:prstGeom prst="rect">
            <a:avLst/>
          </a:prstGeom>
          <a:solidFill>
            <a:srgbClr val="7B2900"/>
          </a:solidFill>
          <a:ln w="12700">
            <a:solidFill>
              <a:srgbClr val="7B29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0" y="0"/>
            <a:ext cx="12801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</a:rPr>
              <a:t>TFTP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1371600" y="914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Trivial File Transfer Protocol — RFC 1350 (1992)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371600" y="393192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000" dirty="0">
                <a:solidFill>
                  <a:schemeClr val="bg1"/>
                </a:solidFill>
              </a:rPr>
              <a:t>TFTP (Trivial File Transfer Protocol) is a simple file transfer protocol used for small file transfers without authentication.</a:t>
            </a:r>
          </a:p>
        </p:txBody>
      </p:sp>
      <p:sp>
        <p:nvSpPr>
          <p:cNvPr id="7" name="Shape 5"/>
          <p:cNvSpPr/>
          <p:nvPr/>
        </p:nvSpPr>
        <p:spPr>
          <a:xfrm>
            <a:off x="182880" y="822960"/>
            <a:ext cx="4114800" cy="457200"/>
          </a:xfrm>
          <a:prstGeom prst="rect">
            <a:avLst/>
          </a:prstGeom>
          <a:solidFill>
            <a:srgbClr val="162235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850392"/>
            <a:ext cx="16002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A726"/>
                </a:solidFill>
              </a:rPr>
              <a:t>Protocol Type: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920240" y="850392"/>
            <a:ext cx="22860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0F4FF"/>
                </a:solidFill>
              </a:rPr>
              <a:t>Application Layer (OSI 7)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2880" y="1335024"/>
            <a:ext cx="4114800" cy="457200"/>
          </a:xfrm>
          <a:prstGeom prst="rect">
            <a:avLst/>
          </a:prstGeom>
          <a:solidFill>
            <a:srgbClr val="0F1C2E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4320" y="1362456"/>
            <a:ext cx="16002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A726"/>
                </a:solidFill>
              </a:rPr>
              <a:t>Transport: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920240" y="1362456"/>
            <a:ext cx="22860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0F4FF"/>
                </a:solidFill>
              </a:rPr>
              <a:t>UDP (port 69) — connectionless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2880" y="1847088"/>
            <a:ext cx="4114800" cy="457200"/>
          </a:xfrm>
          <a:prstGeom prst="rect">
            <a:avLst/>
          </a:prstGeom>
          <a:solidFill>
            <a:srgbClr val="162235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74320" y="1874520"/>
            <a:ext cx="16002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A726"/>
                </a:solidFill>
              </a:rPr>
              <a:t>Port: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920240" y="1874520"/>
            <a:ext cx="22860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0F4FF"/>
                </a:solidFill>
              </a:rPr>
              <a:t>69 — Initial request only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182880" y="2359152"/>
            <a:ext cx="4114800" cy="457200"/>
          </a:xfrm>
          <a:prstGeom prst="rect">
            <a:avLst/>
          </a:prstGeom>
          <a:solidFill>
            <a:srgbClr val="0F1C2E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74320" y="2386584"/>
            <a:ext cx="16002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A726"/>
                </a:solidFill>
              </a:rPr>
              <a:t>Authentication: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920240" y="2386584"/>
            <a:ext cx="22860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0F4FF"/>
                </a:solidFill>
              </a:rPr>
              <a:t>None — open access by design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182880" y="2871216"/>
            <a:ext cx="4114800" cy="457200"/>
          </a:xfrm>
          <a:prstGeom prst="rect">
            <a:avLst/>
          </a:prstGeom>
          <a:solidFill>
            <a:srgbClr val="162235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74320" y="2898648"/>
            <a:ext cx="16002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A726"/>
                </a:solidFill>
              </a:rPr>
              <a:t>Encryption: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1920240" y="2898648"/>
            <a:ext cx="22860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0F4FF"/>
                </a:solidFill>
              </a:rPr>
              <a:t>None — plaintext transfers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182880" y="3383280"/>
            <a:ext cx="4114800" cy="457200"/>
          </a:xfrm>
          <a:prstGeom prst="rect">
            <a:avLst/>
          </a:prstGeom>
          <a:solidFill>
            <a:srgbClr val="0F1C2E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74320" y="3410712"/>
            <a:ext cx="16002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A726"/>
                </a:solidFill>
              </a:rPr>
              <a:t>Block Size: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1920240" y="3410712"/>
            <a:ext cx="22860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0F4FF"/>
                </a:solidFill>
              </a:rPr>
              <a:t>512 bytes default (RFC 2348: up to 65464)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2880" y="3895344"/>
            <a:ext cx="4114800" cy="457200"/>
          </a:xfrm>
          <a:prstGeom prst="rect">
            <a:avLst/>
          </a:prstGeom>
          <a:solidFill>
            <a:srgbClr val="162235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74320" y="3922776"/>
            <a:ext cx="16002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A726"/>
                </a:solidFill>
              </a:rPr>
              <a:t>Error Handling: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1920240" y="3922776"/>
            <a:ext cx="22860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0F4FF"/>
                </a:solidFill>
              </a:rPr>
              <a:t>Simple retransmit on timeout (Lockstep)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182880" y="4407408"/>
            <a:ext cx="4114800" cy="457200"/>
          </a:xfrm>
          <a:prstGeom prst="rect">
            <a:avLst/>
          </a:prstGeom>
          <a:solidFill>
            <a:srgbClr val="0F1C2E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74320" y="4434840"/>
            <a:ext cx="16002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A726"/>
                </a:solidFill>
              </a:rPr>
              <a:t>RFC: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1920240" y="4434840"/>
            <a:ext cx="22860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0F4FF"/>
                </a:solidFill>
              </a:rPr>
              <a:t>RFC 1350, 2347, 2348, 2349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4663440" y="777240"/>
            <a:ext cx="4297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D600"/>
                </a:solidFill>
              </a:rPr>
              <a:t>TFTP Packet Types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4663440" y="1234440"/>
            <a:ext cx="4297680" cy="493776"/>
          </a:xfrm>
          <a:prstGeom prst="rect">
            <a:avLst/>
          </a:prstGeom>
          <a:solidFill>
            <a:srgbClr val="162235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663440" y="1234440"/>
            <a:ext cx="365760" cy="493776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663440" y="1234440"/>
            <a:ext cx="3657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01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5120640" y="1261872"/>
            <a:ext cx="8229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A726"/>
                </a:solidFill>
              </a:rPr>
              <a:t>RRQ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5120640" y="1499616"/>
            <a:ext cx="3749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0F4FF"/>
                </a:solidFill>
              </a:rPr>
              <a:t>Read Request — client requests file download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4663440" y="1783080"/>
            <a:ext cx="4297680" cy="493776"/>
          </a:xfrm>
          <a:prstGeom prst="rect">
            <a:avLst/>
          </a:prstGeom>
          <a:solidFill>
            <a:srgbClr val="162235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4663440" y="1783080"/>
            <a:ext cx="365760" cy="493776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663440" y="1783080"/>
            <a:ext cx="3657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02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5120640" y="1810512"/>
            <a:ext cx="8229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A726"/>
                </a:solidFill>
              </a:rPr>
              <a:t>WRQ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5120640" y="2048256"/>
            <a:ext cx="3749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0F4FF"/>
                </a:solidFill>
              </a:rPr>
              <a:t>Write Request — client requests file upload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4663440" y="2331720"/>
            <a:ext cx="4297680" cy="493776"/>
          </a:xfrm>
          <a:prstGeom prst="rect">
            <a:avLst/>
          </a:prstGeom>
          <a:solidFill>
            <a:srgbClr val="162235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4663440" y="2331720"/>
            <a:ext cx="365760" cy="493776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663440" y="2331720"/>
            <a:ext cx="3657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03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5120640" y="2359152"/>
            <a:ext cx="8229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A726"/>
                </a:solidFill>
              </a:rPr>
              <a:t>DATA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5120640" y="2596896"/>
            <a:ext cx="3749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0F4FF"/>
                </a:solidFill>
              </a:rPr>
              <a:t>Data packet — 512-byte blocks, numbered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4663440" y="2880360"/>
            <a:ext cx="4297680" cy="493776"/>
          </a:xfrm>
          <a:prstGeom prst="rect">
            <a:avLst/>
          </a:prstGeom>
          <a:solidFill>
            <a:srgbClr val="162235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4663440" y="2880360"/>
            <a:ext cx="365760" cy="493776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663440" y="2880360"/>
            <a:ext cx="3657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04</a:t>
            </a:r>
            <a:endParaRPr lang="en-US" sz="1100" dirty="0"/>
          </a:p>
        </p:txBody>
      </p:sp>
      <p:sp>
        <p:nvSpPr>
          <p:cNvPr id="50" name="Text 48"/>
          <p:cNvSpPr/>
          <p:nvPr/>
        </p:nvSpPr>
        <p:spPr>
          <a:xfrm>
            <a:off x="5120640" y="2907792"/>
            <a:ext cx="8229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A726"/>
                </a:solidFill>
              </a:rPr>
              <a:t>ACK</a:t>
            </a:r>
            <a:endParaRPr lang="en-US" sz="1100" dirty="0"/>
          </a:p>
        </p:txBody>
      </p:sp>
      <p:sp>
        <p:nvSpPr>
          <p:cNvPr id="51" name="Text 49"/>
          <p:cNvSpPr/>
          <p:nvPr/>
        </p:nvSpPr>
        <p:spPr>
          <a:xfrm>
            <a:off x="5120640" y="3145536"/>
            <a:ext cx="3749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0F4FF"/>
                </a:solidFill>
              </a:rPr>
              <a:t>Acknowledgement — confirms block received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4663440" y="3429000"/>
            <a:ext cx="4297680" cy="493776"/>
          </a:xfrm>
          <a:prstGeom prst="rect">
            <a:avLst/>
          </a:prstGeom>
          <a:solidFill>
            <a:srgbClr val="162235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4663440" y="3429000"/>
            <a:ext cx="365760" cy="493776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4663440" y="3429000"/>
            <a:ext cx="3657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05</a:t>
            </a:r>
            <a:endParaRPr lang="en-US" sz="1100" dirty="0"/>
          </a:p>
        </p:txBody>
      </p:sp>
      <p:sp>
        <p:nvSpPr>
          <p:cNvPr id="55" name="Text 53"/>
          <p:cNvSpPr/>
          <p:nvPr/>
        </p:nvSpPr>
        <p:spPr>
          <a:xfrm>
            <a:off x="5120640" y="3456432"/>
            <a:ext cx="8229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A726"/>
                </a:solidFill>
              </a:rPr>
              <a:t>ERROR</a:t>
            </a:r>
            <a:endParaRPr lang="en-US" sz="1100" dirty="0"/>
          </a:p>
        </p:txBody>
      </p:sp>
      <p:sp>
        <p:nvSpPr>
          <p:cNvPr id="56" name="Text 54"/>
          <p:cNvSpPr/>
          <p:nvPr/>
        </p:nvSpPr>
        <p:spPr>
          <a:xfrm>
            <a:off x="5120640" y="3694176"/>
            <a:ext cx="3749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0F4FF"/>
                </a:solidFill>
              </a:rPr>
              <a:t>Error — code + message, terminates transfer</a:t>
            </a:r>
            <a:endParaRPr lang="en-US" sz="900" dirty="0"/>
          </a:p>
        </p:txBody>
      </p:sp>
      <p:sp>
        <p:nvSpPr>
          <p:cNvPr id="57" name="Text 55"/>
          <p:cNvSpPr/>
          <p:nvPr/>
        </p:nvSpPr>
        <p:spPr>
          <a:xfrm>
            <a:off x="4663440" y="4078224"/>
            <a:ext cx="4297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D600"/>
                </a:solidFill>
              </a:rPr>
              <a:t>Lockstep Transfer Flow</a:t>
            </a:r>
            <a:endParaRPr lang="en-US" sz="1100" dirty="0"/>
          </a:p>
        </p:txBody>
      </p:sp>
      <p:sp>
        <p:nvSpPr>
          <p:cNvPr id="58" name="Shape 56"/>
          <p:cNvSpPr/>
          <p:nvPr/>
        </p:nvSpPr>
        <p:spPr>
          <a:xfrm>
            <a:off x="4663440" y="4425696"/>
            <a:ext cx="4297680" cy="128016"/>
          </a:xfrm>
          <a:prstGeom prst="rect">
            <a:avLst/>
          </a:prstGeom>
          <a:solidFill>
            <a:srgbClr val="1E2E15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4754880" y="4425696"/>
            <a:ext cx="4114800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0F4FF"/>
                </a:solidFill>
              </a:rPr>
              <a:t>1. Client→Server: RRQ/WRQ (port 69)</a:t>
            </a:r>
            <a:endParaRPr lang="en-US" sz="800" dirty="0"/>
          </a:p>
        </p:txBody>
      </p:sp>
      <p:sp>
        <p:nvSpPr>
          <p:cNvPr id="60" name="Shape 58"/>
          <p:cNvSpPr/>
          <p:nvPr/>
        </p:nvSpPr>
        <p:spPr>
          <a:xfrm>
            <a:off x="4663440" y="4567428"/>
            <a:ext cx="4297680" cy="128016"/>
          </a:xfrm>
          <a:prstGeom prst="rect">
            <a:avLst/>
          </a:prstGeom>
          <a:solidFill>
            <a:srgbClr val="162235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4754880" y="4567428"/>
            <a:ext cx="4114800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0F4FF"/>
                </a:solidFill>
              </a:rPr>
              <a:t>2. Server→Client: DATA block #1</a:t>
            </a:r>
            <a:endParaRPr lang="en-US" sz="800" dirty="0"/>
          </a:p>
        </p:txBody>
      </p:sp>
      <p:sp>
        <p:nvSpPr>
          <p:cNvPr id="62" name="Shape 60"/>
          <p:cNvSpPr/>
          <p:nvPr/>
        </p:nvSpPr>
        <p:spPr>
          <a:xfrm>
            <a:off x="4663440" y="4709160"/>
            <a:ext cx="4297680" cy="128016"/>
          </a:xfrm>
          <a:prstGeom prst="rect">
            <a:avLst/>
          </a:prstGeom>
          <a:solidFill>
            <a:srgbClr val="1E2E15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4754880" y="4709160"/>
            <a:ext cx="4114800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0F4FF"/>
                </a:solidFill>
              </a:rPr>
              <a:t>3. Client→Server: ACK block #1</a:t>
            </a:r>
            <a:endParaRPr lang="en-US" sz="800" dirty="0"/>
          </a:p>
        </p:txBody>
      </p:sp>
      <p:sp>
        <p:nvSpPr>
          <p:cNvPr id="64" name="Shape 62"/>
          <p:cNvSpPr/>
          <p:nvPr/>
        </p:nvSpPr>
        <p:spPr>
          <a:xfrm>
            <a:off x="4663440" y="4850892"/>
            <a:ext cx="4297680" cy="128016"/>
          </a:xfrm>
          <a:prstGeom prst="rect">
            <a:avLst/>
          </a:prstGeom>
          <a:solidFill>
            <a:srgbClr val="162235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4754880" y="4850892"/>
            <a:ext cx="4114800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0F4FF"/>
                </a:solidFill>
              </a:rPr>
              <a:t>4. Repeat until last block (&lt;512B)</a:t>
            </a:r>
            <a:endParaRPr lang="en-US" sz="800" dirty="0"/>
          </a:p>
        </p:txBody>
      </p:sp>
      <p:sp>
        <p:nvSpPr>
          <p:cNvPr id="66" name="Shape 64"/>
          <p:cNvSpPr/>
          <p:nvPr/>
        </p:nvSpPr>
        <p:spPr>
          <a:xfrm>
            <a:off x="4663440" y="4992624"/>
            <a:ext cx="4297680" cy="128016"/>
          </a:xfrm>
          <a:prstGeom prst="rect">
            <a:avLst/>
          </a:prstGeom>
          <a:solidFill>
            <a:srgbClr val="1E2E15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4754880" y="4992624"/>
            <a:ext cx="4114800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0F4FF"/>
                </a:solidFill>
              </a:rPr>
              <a:t>5. Last block signals end of file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3716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42A5F5"/>
                </a:solidFill>
              </a:rPr>
              <a:t>ARCHITECTURE &amp; CONNECTION MODELS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182880" y="777240"/>
            <a:ext cx="8778240" cy="1417320"/>
          </a:xfrm>
          <a:prstGeom prst="rect">
            <a:avLst/>
          </a:prstGeom>
          <a:solidFill>
            <a:srgbClr val="162235"/>
          </a:solidFill>
          <a:ln w="25400">
            <a:solidFill>
              <a:srgbClr val="1565C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82880" y="777240"/>
            <a:ext cx="8778240" cy="292608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777240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FTP — Dual Channel Model (Control + Data)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65760" y="1170432"/>
            <a:ext cx="1828800" cy="914400"/>
          </a:xfrm>
          <a:prstGeom prst="rect">
            <a:avLst/>
          </a:prstGeom>
          <a:solidFill>
            <a:srgbClr val="1565C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1170432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FTP CLIENT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65760" y="1536192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BBDEFB"/>
                </a:solidFill>
              </a:rPr>
              <a:t>PI (Protocol Interpreter)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BBDEFB"/>
                </a:solidFill>
              </a:rPr>
              <a:t>DTP (Data Transfer)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2194560" y="1444752"/>
            <a:ext cx="2011680" cy="0"/>
          </a:xfrm>
          <a:prstGeom prst="line">
            <a:avLst/>
          </a:prstGeom>
          <a:noFill/>
          <a:ln w="25400">
            <a:solidFill>
              <a:srgbClr val="FFD60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240280" y="1261872"/>
            <a:ext cx="1920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D600"/>
                </a:solidFill>
              </a:rPr>
              <a:t>Control (port 21)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2194560" y="1920240"/>
            <a:ext cx="2011680" cy="0"/>
          </a:xfrm>
          <a:prstGeom prst="line">
            <a:avLst/>
          </a:prstGeom>
          <a:noFill/>
          <a:ln w="25400">
            <a:solidFill>
              <a:srgbClr val="42A5F5"/>
            </a:solidFill>
            <a:prstDash val="dash"/>
          </a:ln>
        </p:spPr>
      </p:sp>
      <p:sp>
        <p:nvSpPr>
          <p:cNvPr id="13" name="Text 11"/>
          <p:cNvSpPr/>
          <p:nvPr/>
        </p:nvSpPr>
        <p:spPr>
          <a:xfrm>
            <a:off x="2240280" y="1965960"/>
            <a:ext cx="1920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42A5F5"/>
                </a:solidFill>
              </a:rPr>
              <a:t>Data (port 20)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4206240" y="1170432"/>
            <a:ext cx="2011680" cy="914400"/>
          </a:xfrm>
          <a:prstGeom prst="rect">
            <a:avLst/>
          </a:prstGeom>
          <a:solidFill>
            <a:srgbClr val="0D47A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206240" y="1170432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FTP SERVER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206240" y="1536192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BBDEFB"/>
                </a:solidFill>
              </a:rPr>
              <a:t>Server PI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BBDEFB"/>
                </a:solidFill>
              </a:rPr>
              <a:t>Server DTP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BBDEFB"/>
                </a:solidFill>
              </a:rPr>
              <a:t>Filesystem Access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6492240" y="1170432"/>
            <a:ext cx="26517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900" dirty="0">
                <a:solidFill>
                  <a:srgbClr val="B0BEC5"/>
                </a:solidFill>
              </a:rPr>
              <a:t>FTP requires 2 separate TCP connections per file operation. Active mode: server initiates data connection. Passive mode: client initiates both connections (firewall-friendly).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182880" y="2331720"/>
            <a:ext cx="8778240" cy="1280160"/>
          </a:xfrm>
          <a:prstGeom prst="rect">
            <a:avLst/>
          </a:prstGeom>
          <a:solidFill>
            <a:srgbClr val="162235"/>
          </a:solidFill>
          <a:ln w="25400">
            <a:solidFill>
              <a:srgbClr val="1B5E2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82880" y="2331720"/>
            <a:ext cx="8778240" cy="292608"/>
          </a:xfrm>
          <a:prstGeom prst="rect">
            <a:avLst/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5760" y="2331720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SFTP — Single Encrypted SSH Channel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65760" y="2724912"/>
            <a:ext cx="1828800" cy="804672"/>
          </a:xfrm>
          <a:prstGeom prst="rect">
            <a:avLst/>
          </a:prstGeom>
          <a:solidFill>
            <a:srgbClr val="1B5E2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65760" y="2724912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SFTP CLIENT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365760" y="3044952"/>
            <a:ext cx="18288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C8E6C9"/>
                </a:solidFill>
              </a:rPr>
              <a:t>SSH Client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2194560" y="3127248"/>
            <a:ext cx="3931920" cy="0"/>
          </a:xfrm>
          <a:prstGeom prst="line">
            <a:avLst/>
          </a:prstGeom>
          <a:noFill/>
          <a:ln w="38100">
            <a:solidFill>
              <a:srgbClr val="66BB6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240280" y="2724912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6BB6A"/>
                </a:solidFill>
              </a:rPr>
              <a:t>Single SSH Tunnel — Port 22 — All data encrypted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3291840" y="2999232"/>
            <a:ext cx="1828800" cy="256032"/>
          </a:xfrm>
          <a:prstGeom prst="rect">
            <a:avLst/>
          </a:prstGeom>
          <a:solidFill>
            <a:srgbClr val="1B5E20"/>
          </a:solidFill>
          <a:ln w="12700">
            <a:solidFill>
              <a:srgbClr val="66BB6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291840" y="299923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A5D6A7"/>
                </a:solidFill>
              </a:rPr>
              <a:t>🔒 AES-256 Encrypted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6126480" y="2724912"/>
            <a:ext cx="2011680" cy="804672"/>
          </a:xfrm>
          <a:prstGeom prst="rect">
            <a:avLst/>
          </a:prstGeom>
          <a:solidFill>
            <a:srgbClr val="1A3C1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126480" y="2724912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SFTP SERVER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6126480" y="3044952"/>
            <a:ext cx="20116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C8E6C9"/>
                </a:solidFill>
              </a:rPr>
              <a:t>SSH Server + SFTP subsystem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182880" y="3730752"/>
            <a:ext cx="8778240" cy="1234440"/>
          </a:xfrm>
          <a:prstGeom prst="rect">
            <a:avLst/>
          </a:prstGeom>
          <a:solidFill>
            <a:srgbClr val="162235"/>
          </a:solidFill>
          <a:ln w="25400">
            <a:solidFill>
              <a:srgbClr val="E6510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182880" y="3730752"/>
            <a:ext cx="8778240" cy="292608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65760" y="3730752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TFTP — Minimal UDP Connectionless Model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365760" y="4114800"/>
            <a:ext cx="1737360" cy="731520"/>
          </a:xfrm>
          <a:prstGeom prst="rect">
            <a:avLst/>
          </a:prstGeom>
          <a:solidFill>
            <a:srgbClr val="E6510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65760" y="4114800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TFTP CLIENT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365760" y="443484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E0B2"/>
                </a:solidFill>
              </a:rPr>
              <a:t>No auth · UDP only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2103120" y="4480560"/>
            <a:ext cx="3931920" cy="0"/>
          </a:xfrm>
          <a:prstGeom prst="line">
            <a:avLst/>
          </a:prstGeom>
          <a:noFill/>
          <a:ln w="25400">
            <a:solidFill>
              <a:srgbClr val="FFA726"/>
            </a:solidFill>
            <a:prstDash val="dash"/>
          </a:ln>
        </p:spPr>
      </p:sp>
      <p:sp>
        <p:nvSpPr>
          <p:cNvPr id="38" name="Text 36"/>
          <p:cNvSpPr/>
          <p:nvPr/>
        </p:nvSpPr>
        <p:spPr>
          <a:xfrm>
            <a:off x="2148840" y="4261104"/>
            <a:ext cx="3840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A726"/>
                </a:solidFill>
              </a:rPr>
              <a:t>UDP Port 69 — No connection, no handshake, no encryption</a:t>
            </a:r>
            <a:endParaRPr lang="en-US" sz="800" dirty="0"/>
          </a:p>
        </p:txBody>
      </p:sp>
      <p:sp>
        <p:nvSpPr>
          <p:cNvPr id="39" name="Shape 37"/>
          <p:cNvSpPr/>
          <p:nvPr/>
        </p:nvSpPr>
        <p:spPr>
          <a:xfrm>
            <a:off x="6035040" y="4114800"/>
            <a:ext cx="2011680" cy="731520"/>
          </a:xfrm>
          <a:prstGeom prst="rect">
            <a:avLst/>
          </a:prstGeom>
          <a:solidFill>
            <a:srgbClr val="7B290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035040" y="411480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TFTP SERVER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6035040" y="443484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E0B2"/>
                </a:solidFill>
              </a:rPr>
              <a:t>Boot server / ROM images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8092440" y="4114800"/>
            <a:ext cx="960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B0BEC5"/>
                </a:solidFill>
              </a:rPr>
              <a:t>TFTP uses a stateless UDP approach — ideal for PXE boot, network device config, and environments where simplicity &gt; security.</a:t>
            </a:r>
            <a:endParaRPr lang="en-US" sz="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3716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42A5F5"/>
                </a:solidFill>
              </a:rPr>
              <a:t>USE CASES &amp; REAL-WORLD APPLICATIONS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182880" y="777240"/>
            <a:ext cx="2880360" cy="36576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82880" y="777240"/>
            <a:ext cx="2880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FTP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182880" y="1207008"/>
            <a:ext cx="2880360" cy="713232"/>
          </a:xfrm>
          <a:prstGeom prst="rect">
            <a:avLst/>
          </a:prstGeom>
          <a:solidFill>
            <a:srgbClr val="162235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82880" y="1207008"/>
            <a:ext cx="54864" cy="713232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92608" y="1234440"/>
            <a:ext cx="2697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Web Hosting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292608" y="1490472"/>
            <a:ext cx="271576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800" dirty="0">
                <a:solidFill>
                  <a:srgbClr val="B0BEC5"/>
                </a:solidFill>
              </a:rPr>
              <a:t>Classic FTP clients (FileZilla, WinSCP) for uploading website content to shared hosting servers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182880" y="1975104"/>
            <a:ext cx="2880360" cy="713232"/>
          </a:xfrm>
          <a:prstGeom prst="rect">
            <a:avLst/>
          </a:prstGeom>
          <a:solidFill>
            <a:srgbClr val="162235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82880" y="1975104"/>
            <a:ext cx="54864" cy="713232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92608" y="2002536"/>
            <a:ext cx="2697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Legacy Systems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292608" y="2258568"/>
            <a:ext cx="271576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800" dirty="0">
                <a:solidFill>
                  <a:srgbClr val="B0BEC5"/>
                </a:solidFill>
              </a:rPr>
              <a:t>Enterprise mainframe integration, EDI transfers between older business systems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182880" y="2743200"/>
            <a:ext cx="2880360" cy="713232"/>
          </a:xfrm>
          <a:prstGeom prst="rect">
            <a:avLst/>
          </a:prstGeom>
          <a:solidFill>
            <a:srgbClr val="162235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82880" y="2743200"/>
            <a:ext cx="54864" cy="713232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92608" y="2770632"/>
            <a:ext cx="2697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Internal Data Exchange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292608" y="3026664"/>
            <a:ext cx="271576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800" dirty="0">
                <a:solidFill>
                  <a:srgbClr val="B0BEC5"/>
                </a:solidFill>
              </a:rPr>
              <a:t>Trusted LAN file sharing where security is managed at the network perimeter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182880" y="3511296"/>
            <a:ext cx="2880360" cy="713232"/>
          </a:xfrm>
          <a:prstGeom prst="rect">
            <a:avLst/>
          </a:prstGeom>
          <a:solidFill>
            <a:srgbClr val="162235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82880" y="3511296"/>
            <a:ext cx="54864" cy="713232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92608" y="3538728"/>
            <a:ext cx="2697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Automated Batch Jobs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292608" y="3794760"/>
            <a:ext cx="271576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800" dirty="0">
                <a:solidFill>
                  <a:srgbClr val="B0BEC5"/>
                </a:solidFill>
              </a:rPr>
              <a:t>Scripted nightly uploads/downloads of reports, backups, and data feeds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182880" y="4279392"/>
            <a:ext cx="2880360" cy="713232"/>
          </a:xfrm>
          <a:prstGeom prst="rect">
            <a:avLst/>
          </a:prstGeom>
          <a:solidFill>
            <a:srgbClr val="162235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82880" y="4279392"/>
            <a:ext cx="54864" cy="713232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92608" y="4306824"/>
            <a:ext cx="2697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Media Distribution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292608" y="4562856"/>
            <a:ext cx="271576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800" dirty="0">
                <a:solidFill>
                  <a:srgbClr val="B0BEC5"/>
                </a:solidFill>
              </a:rPr>
              <a:t>FTP mirrors for distributing large ISO, video, or software archive files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3246120" y="777240"/>
            <a:ext cx="2880360" cy="365760"/>
          </a:xfrm>
          <a:prstGeom prst="rect">
            <a:avLst/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246120" y="777240"/>
            <a:ext cx="2880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SFTP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3246120" y="1207008"/>
            <a:ext cx="2880360" cy="713232"/>
          </a:xfrm>
          <a:prstGeom prst="rect">
            <a:avLst/>
          </a:prstGeom>
          <a:solidFill>
            <a:srgbClr val="162235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246120" y="1207008"/>
            <a:ext cx="54864" cy="713232"/>
          </a:xfrm>
          <a:prstGeom prst="rect">
            <a:avLst/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355848" y="1234440"/>
            <a:ext cx="2697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Secure File Sharing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3355848" y="1490472"/>
            <a:ext cx="271576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800" dirty="0">
                <a:solidFill>
                  <a:srgbClr val="B0BEC5"/>
                </a:solidFill>
              </a:rPr>
              <a:t>B2B file exchange requiring compliance: HIPAA, PCI-DSS, SOX, GDPR regulated data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3246120" y="1975104"/>
            <a:ext cx="2880360" cy="713232"/>
          </a:xfrm>
          <a:prstGeom prst="rect">
            <a:avLst/>
          </a:prstGeom>
          <a:solidFill>
            <a:srgbClr val="162235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3246120" y="1975104"/>
            <a:ext cx="54864" cy="713232"/>
          </a:xfrm>
          <a:prstGeom prst="rect">
            <a:avLst/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355848" y="2002536"/>
            <a:ext cx="2697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DevOps &amp; CI/CD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3355848" y="2258568"/>
            <a:ext cx="271576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800" dirty="0">
                <a:solidFill>
                  <a:srgbClr val="B0BEC5"/>
                </a:solidFill>
              </a:rPr>
              <a:t>Artifact deployment, configuration distribution to remote servers via scripts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3246120" y="2743200"/>
            <a:ext cx="2880360" cy="713232"/>
          </a:xfrm>
          <a:prstGeom prst="rect">
            <a:avLst/>
          </a:prstGeom>
          <a:solidFill>
            <a:srgbClr val="162235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3246120" y="2743200"/>
            <a:ext cx="54864" cy="713232"/>
          </a:xfrm>
          <a:prstGeom prst="rect">
            <a:avLst/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355848" y="2770632"/>
            <a:ext cx="2697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Backup &amp; Archival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3355848" y="3026664"/>
            <a:ext cx="271576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800" dirty="0">
                <a:solidFill>
                  <a:srgbClr val="B0BEC5"/>
                </a:solidFill>
              </a:rPr>
              <a:t>Encrypted off-site backups to cloud or co-location facilities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3246120" y="3511296"/>
            <a:ext cx="2880360" cy="713232"/>
          </a:xfrm>
          <a:prstGeom prst="rect">
            <a:avLst/>
          </a:prstGeom>
          <a:solidFill>
            <a:srgbClr val="162235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3246120" y="3511296"/>
            <a:ext cx="54864" cy="713232"/>
          </a:xfrm>
          <a:prstGeom prst="rect">
            <a:avLst/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355848" y="3538728"/>
            <a:ext cx="2697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Remote Administration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3355848" y="3794760"/>
            <a:ext cx="271576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800" dirty="0">
                <a:solidFill>
                  <a:srgbClr val="B0BEC5"/>
                </a:solidFill>
              </a:rPr>
              <a:t>System administrators transferring configs, patches, logs on production servers</a:t>
            </a:r>
            <a:endParaRPr lang="en-US" sz="800" dirty="0"/>
          </a:p>
        </p:txBody>
      </p:sp>
      <p:sp>
        <p:nvSpPr>
          <p:cNvPr id="44" name="Shape 42"/>
          <p:cNvSpPr/>
          <p:nvPr/>
        </p:nvSpPr>
        <p:spPr>
          <a:xfrm>
            <a:off x="3246120" y="4279392"/>
            <a:ext cx="2880360" cy="713232"/>
          </a:xfrm>
          <a:prstGeom prst="rect">
            <a:avLst/>
          </a:prstGeom>
          <a:solidFill>
            <a:srgbClr val="162235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3246120" y="4279392"/>
            <a:ext cx="54864" cy="713232"/>
          </a:xfrm>
          <a:prstGeom prst="rect">
            <a:avLst/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3355848" y="4306824"/>
            <a:ext cx="2697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Managed File Transfer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3355848" y="4562856"/>
            <a:ext cx="271576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800" dirty="0">
                <a:solidFill>
                  <a:srgbClr val="B0BEC5"/>
                </a:solidFill>
              </a:rPr>
              <a:t>MFT platforms (Axway, IBM MFT) use SFTP as secure backbone for enterprise workflows</a:t>
            </a:r>
            <a:endParaRPr lang="en-US" sz="800" dirty="0"/>
          </a:p>
        </p:txBody>
      </p:sp>
      <p:sp>
        <p:nvSpPr>
          <p:cNvPr id="48" name="Shape 46"/>
          <p:cNvSpPr/>
          <p:nvPr/>
        </p:nvSpPr>
        <p:spPr>
          <a:xfrm>
            <a:off x="6309360" y="777240"/>
            <a:ext cx="2880360" cy="365760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309360" y="777240"/>
            <a:ext cx="2880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TFTP</a:t>
            </a:r>
            <a:endParaRPr lang="en-US" sz="1400" dirty="0"/>
          </a:p>
        </p:txBody>
      </p:sp>
      <p:sp>
        <p:nvSpPr>
          <p:cNvPr id="50" name="Shape 48"/>
          <p:cNvSpPr/>
          <p:nvPr/>
        </p:nvSpPr>
        <p:spPr>
          <a:xfrm>
            <a:off x="6309360" y="1207008"/>
            <a:ext cx="2880360" cy="713232"/>
          </a:xfrm>
          <a:prstGeom prst="rect">
            <a:avLst/>
          </a:prstGeom>
          <a:solidFill>
            <a:srgbClr val="162235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6309360" y="1207008"/>
            <a:ext cx="54864" cy="713232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419088" y="1234440"/>
            <a:ext cx="2697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PXE Network Boot</a:t>
            </a:r>
            <a:endParaRPr lang="en-US" sz="1000" dirty="0"/>
          </a:p>
        </p:txBody>
      </p:sp>
      <p:sp>
        <p:nvSpPr>
          <p:cNvPr id="53" name="Text 51"/>
          <p:cNvSpPr/>
          <p:nvPr/>
        </p:nvSpPr>
        <p:spPr>
          <a:xfrm>
            <a:off x="6419088" y="1490472"/>
            <a:ext cx="271576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800" dirty="0">
                <a:solidFill>
                  <a:srgbClr val="B0BEC5"/>
                </a:solidFill>
              </a:rPr>
              <a:t>Diskless workstations and servers load OS kernel images over network via TFTP</a:t>
            </a:r>
            <a:endParaRPr lang="en-US" sz="800" dirty="0"/>
          </a:p>
        </p:txBody>
      </p:sp>
      <p:sp>
        <p:nvSpPr>
          <p:cNvPr id="54" name="Shape 52"/>
          <p:cNvSpPr/>
          <p:nvPr/>
        </p:nvSpPr>
        <p:spPr>
          <a:xfrm>
            <a:off x="6309360" y="1975104"/>
            <a:ext cx="2880360" cy="713232"/>
          </a:xfrm>
          <a:prstGeom prst="rect">
            <a:avLst/>
          </a:prstGeom>
          <a:solidFill>
            <a:srgbClr val="162235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6309360" y="1975104"/>
            <a:ext cx="54864" cy="713232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6419088" y="2002536"/>
            <a:ext cx="2697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Cisco / Network Gear</a:t>
            </a:r>
            <a:endParaRPr lang="en-US" sz="1000" dirty="0"/>
          </a:p>
        </p:txBody>
      </p:sp>
      <p:sp>
        <p:nvSpPr>
          <p:cNvPr id="57" name="Text 55"/>
          <p:cNvSpPr/>
          <p:nvPr/>
        </p:nvSpPr>
        <p:spPr>
          <a:xfrm>
            <a:off x="6419088" y="2258568"/>
            <a:ext cx="271576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800" dirty="0">
                <a:solidFill>
                  <a:srgbClr val="B0BEC5"/>
                </a:solidFill>
              </a:rPr>
              <a:t>Router/switch IOS firmware upgrades, running-config backups, startup-config restore</a:t>
            </a:r>
            <a:endParaRPr lang="en-US" sz="800" dirty="0"/>
          </a:p>
        </p:txBody>
      </p:sp>
      <p:sp>
        <p:nvSpPr>
          <p:cNvPr id="58" name="Shape 56"/>
          <p:cNvSpPr/>
          <p:nvPr/>
        </p:nvSpPr>
        <p:spPr>
          <a:xfrm>
            <a:off x="6309360" y="2743200"/>
            <a:ext cx="2880360" cy="713232"/>
          </a:xfrm>
          <a:prstGeom prst="rect">
            <a:avLst/>
          </a:prstGeom>
          <a:solidFill>
            <a:srgbClr val="162235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6309360" y="2743200"/>
            <a:ext cx="54864" cy="713232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6419088" y="2770632"/>
            <a:ext cx="2697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VoIP Phone Provisioning</a:t>
            </a:r>
            <a:endParaRPr lang="en-US" sz="1000" dirty="0"/>
          </a:p>
        </p:txBody>
      </p:sp>
      <p:sp>
        <p:nvSpPr>
          <p:cNvPr id="61" name="Text 59"/>
          <p:cNvSpPr/>
          <p:nvPr/>
        </p:nvSpPr>
        <p:spPr>
          <a:xfrm>
            <a:off x="6419088" y="3026664"/>
            <a:ext cx="271576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800" dirty="0">
                <a:solidFill>
                  <a:srgbClr val="B0BEC5"/>
                </a:solidFill>
              </a:rPr>
              <a:t>IP phones (Cisco, Polycom) download configuration files on startup via TFTP</a:t>
            </a:r>
            <a:endParaRPr lang="en-US" sz="800" dirty="0"/>
          </a:p>
        </p:txBody>
      </p:sp>
      <p:sp>
        <p:nvSpPr>
          <p:cNvPr id="62" name="Shape 60"/>
          <p:cNvSpPr/>
          <p:nvPr/>
        </p:nvSpPr>
        <p:spPr>
          <a:xfrm>
            <a:off x="6309360" y="3511296"/>
            <a:ext cx="2880360" cy="713232"/>
          </a:xfrm>
          <a:prstGeom prst="rect">
            <a:avLst/>
          </a:prstGeom>
          <a:solidFill>
            <a:srgbClr val="162235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6309360" y="3511296"/>
            <a:ext cx="54864" cy="713232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6419088" y="3538728"/>
            <a:ext cx="2697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Embedded Systems</a:t>
            </a:r>
            <a:endParaRPr lang="en-US" sz="1000" dirty="0"/>
          </a:p>
        </p:txBody>
      </p:sp>
      <p:sp>
        <p:nvSpPr>
          <p:cNvPr id="65" name="Text 63"/>
          <p:cNvSpPr/>
          <p:nvPr/>
        </p:nvSpPr>
        <p:spPr>
          <a:xfrm>
            <a:off x="6419088" y="3794760"/>
            <a:ext cx="271576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800" dirty="0">
                <a:solidFill>
                  <a:srgbClr val="B0BEC5"/>
                </a:solidFill>
              </a:rPr>
              <a:t>IoT devices, industrial controllers with minimal flash/RAM use TFTP for updates</a:t>
            </a:r>
            <a:endParaRPr lang="en-US" sz="800" dirty="0"/>
          </a:p>
        </p:txBody>
      </p:sp>
      <p:sp>
        <p:nvSpPr>
          <p:cNvPr id="66" name="Shape 64"/>
          <p:cNvSpPr/>
          <p:nvPr/>
        </p:nvSpPr>
        <p:spPr>
          <a:xfrm>
            <a:off x="6309360" y="4279392"/>
            <a:ext cx="2880360" cy="713232"/>
          </a:xfrm>
          <a:prstGeom prst="rect">
            <a:avLst/>
          </a:prstGeom>
          <a:solidFill>
            <a:srgbClr val="162235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6309360" y="4279392"/>
            <a:ext cx="54864" cy="713232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6419088" y="4306824"/>
            <a:ext cx="2697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DHCP + TFTP Combo</a:t>
            </a:r>
            <a:endParaRPr lang="en-US" sz="1000" dirty="0"/>
          </a:p>
        </p:txBody>
      </p:sp>
      <p:sp>
        <p:nvSpPr>
          <p:cNvPr id="69" name="Text 67"/>
          <p:cNvSpPr/>
          <p:nvPr/>
        </p:nvSpPr>
        <p:spPr>
          <a:xfrm>
            <a:off x="6419088" y="4562856"/>
            <a:ext cx="271576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800" dirty="0">
                <a:solidFill>
                  <a:srgbClr val="B0BEC5"/>
                </a:solidFill>
              </a:rPr>
              <a:t>DHCP option 66/67 tells clients where TFTP server is for boot file retrieval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3716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42A5F5"/>
                </a:solidFill>
              </a:rPr>
              <a:t>COMPREHENSIVE COMPARISON TABLE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91440" y="749808"/>
            <a:ext cx="1920240" cy="347472"/>
          </a:xfrm>
          <a:prstGeom prst="rect">
            <a:avLst/>
          </a:prstGeom>
          <a:solidFill>
            <a:srgbClr val="1B2A4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" y="749808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Feature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011680" y="749808"/>
            <a:ext cx="2331720" cy="347472"/>
          </a:xfrm>
          <a:prstGeom prst="rect">
            <a:avLst/>
          </a:prstGeom>
          <a:solidFill>
            <a:srgbClr val="1565C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011680" y="749808"/>
            <a:ext cx="2331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FTP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43400" y="749808"/>
            <a:ext cx="2331720" cy="347472"/>
          </a:xfrm>
          <a:prstGeom prst="rect">
            <a:avLst/>
          </a:prstGeom>
          <a:solidFill>
            <a:srgbClr val="1B5E2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43400" y="749808"/>
            <a:ext cx="2331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SFTP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675120" y="749808"/>
            <a:ext cx="2331720" cy="347472"/>
          </a:xfrm>
          <a:prstGeom prst="rect">
            <a:avLst/>
          </a:prstGeom>
          <a:solidFill>
            <a:srgbClr val="E6510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675120" y="749808"/>
            <a:ext cx="2331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TFTP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91440" y="1115568"/>
            <a:ext cx="1920240" cy="201168"/>
          </a:xfrm>
          <a:prstGeom prst="rect">
            <a:avLst/>
          </a:prstGeom>
          <a:solidFill>
            <a:srgbClr val="1A2C42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37160" y="1115568"/>
            <a:ext cx="1874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42A5F5"/>
                </a:solidFill>
              </a:rPr>
              <a:t>Full Name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2011680" y="1115568"/>
            <a:ext cx="2331720" cy="201168"/>
          </a:xfrm>
          <a:prstGeom prst="rect">
            <a:avLst/>
          </a:prstGeom>
          <a:solidFill>
            <a:srgbClr val="162235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057400" y="1115568"/>
            <a:ext cx="2286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0F4FF"/>
                </a:solidFill>
              </a:rPr>
              <a:t>File Transfer Protocol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4343400" y="1115568"/>
            <a:ext cx="2331720" cy="201168"/>
          </a:xfrm>
          <a:prstGeom prst="rect">
            <a:avLst/>
          </a:prstGeom>
          <a:solidFill>
            <a:srgbClr val="162235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389120" y="1115568"/>
            <a:ext cx="2286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0F4FF"/>
                </a:solidFill>
              </a:rPr>
              <a:t>SSH File Transfer Protocol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6675120" y="1115568"/>
            <a:ext cx="2331720" cy="201168"/>
          </a:xfrm>
          <a:prstGeom prst="rect">
            <a:avLst/>
          </a:prstGeom>
          <a:solidFill>
            <a:srgbClr val="162235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720840" y="1115568"/>
            <a:ext cx="2286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0F4FF"/>
                </a:solidFill>
              </a:rPr>
              <a:t>Trivial File Transfer Protocol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91440" y="1335024"/>
            <a:ext cx="1920240" cy="201168"/>
          </a:xfrm>
          <a:prstGeom prst="rect">
            <a:avLst/>
          </a:prstGeom>
          <a:solidFill>
            <a:srgbClr val="152337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37160" y="1335024"/>
            <a:ext cx="1874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42A5F5"/>
                </a:solidFill>
              </a:rPr>
              <a:t>RFC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2011680" y="1335024"/>
            <a:ext cx="2331720" cy="201168"/>
          </a:xfrm>
          <a:prstGeom prst="rect">
            <a:avLst/>
          </a:prstGeom>
          <a:solidFill>
            <a:srgbClr val="0F1C2E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057400" y="1335024"/>
            <a:ext cx="2286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0F4FF"/>
                </a:solidFill>
              </a:rPr>
              <a:t>RFC 959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4343400" y="1335024"/>
            <a:ext cx="2331720" cy="201168"/>
          </a:xfrm>
          <a:prstGeom prst="rect">
            <a:avLst/>
          </a:prstGeom>
          <a:solidFill>
            <a:srgbClr val="0F1C2E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389120" y="1335024"/>
            <a:ext cx="2286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0F4FF"/>
                </a:solidFill>
              </a:rPr>
              <a:t>SSH2 IETF Draft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6675120" y="1335024"/>
            <a:ext cx="2331720" cy="201168"/>
          </a:xfrm>
          <a:prstGeom prst="rect">
            <a:avLst/>
          </a:prstGeom>
          <a:solidFill>
            <a:srgbClr val="0F1C2E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720840" y="1335024"/>
            <a:ext cx="2286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0F4FF"/>
                </a:solidFill>
              </a:rPr>
              <a:t>RFC 1350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91440" y="1554480"/>
            <a:ext cx="1920240" cy="201168"/>
          </a:xfrm>
          <a:prstGeom prst="rect">
            <a:avLst/>
          </a:prstGeom>
          <a:solidFill>
            <a:srgbClr val="1A2C42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37160" y="1554480"/>
            <a:ext cx="1874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42A5F5"/>
                </a:solidFill>
              </a:rPr>
              <a:t>Year Introduced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2011680" y="1554480"/>
            <a:ext cx="2331720" cy="201168"/>
          </a:xfrm>
          <a:prstGeom prst="rect">
            <a:avLst/>
          </a:prstGeom>
          <a:solidFill>
            <a:srgbClr val="162235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057400" y="1554480"/>
            <a:ext cx="2286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0F4FF"/>
                </a:solidFill>
              </a:rPr>
              <a:t>1971 (1985 revised)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4343400" y="1554480"/>
            <a:ext cx="2331720" cy="201168"/>
          </a:xfrm>
          <a:prstGeom prst="rect">
            <a:avLst/>
          </a:prstGeom>
          <a:solidFill>
            <a:srgbClr val="162235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389120" y="1554480"/>
            <a:ext cx="2286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0F4FF"/>
                </a:solidFill>
              </a:rPr>
              <a:t>1997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6675120" y="1554480"/>
            <a:ext cx="2331720" cy="201168"/>
          </a:xfrm>
          <a:prstGeom prst="rect">
            <a:avLst/>
          </a:prstGeom>
          <a:solidFill>
            <a:srgbClr val="162235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720840" y="1554480"/>
            <a:ext cx="2286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0F4FF"/>
                </a:solidFill>
              </a:rPr>
              <a:t>1980 (1992 revised)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91440" y="1773936"/>
            <a:ext cx="1920240" cy="201168"/>
          </a:xfrm>
          <a:prstGeom prst="rect">
            <a:avLst/>
          </a:prstGeom>
          <a:solidFill>
            <a:srgbClr val="152337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37160" y="1773936"/>
            <a:ext cx="1874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42A5F5"/>
                </a:solidFill>
              </a:rPr>
              <a:t>Transport Layer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2011680" y="1773936"/>
            <a:ext cx="2331720" cy="201168"/>
          </a:xfrm>
          <a:prstGeom prst="rect">
            <a:avLst/>
          </a:prstGeom>
          <a:solidFill>
            <a:srgbClr val="0F1C2E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057400" y="1773936"/>
            <a:ext cx="2286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0F4FF"/>
                </a:solidFill>
              </a:rPr>
              <a:t>TCP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4343400" y="1773936"/>
            <a:ext cx="2331720" cy="201168"/>
          </a:xfrm>
          <a:prstGeom prst="rect">
            <a:avLst/>
          </a:prstGeom>
          <a:solidFill>
            <a:srgbClr val="0F1C2E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389120" y="1773936"/>
            <a:ext cx="2286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0F4FF"/>
                </a:solidFill>
              </a:rPr>
              <a:t>TCP (via SSH)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6675120" y="1773936"/>
            <a:ext cx="2331720" cy="201168"/>
          </a:xfrm>
          <a:prstGeom prst="rect">
            <a:avLst/>
          </a:prstGeom>
          <a:solidFill>
            <a:srgbClr val="0F1C2E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720840" y="1773936"/>
            <a:ext cx="2286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0F4FF"/>
                </a:solidFill>
              </a:rPr>
              <a:t>UDP</a:t>
            </a:r>
            <a:endParaRPr lang="en-US" sz="800" dirty="0"/>
          </a:p>
        </p:txBody>
      </p:sp>
      <p:sp>
        <p:nvSpPr>
          <p:cNvPr id="44" name="Shape 42"/>
          <p:cNvSpPr/>
          <p:nvPr/>
        </p:nvSpPr>
        <p:spPr>
          <a:xfrm>
            <a:off x="91440" y="1993392"/>
            <a:ext cx="1920240" cy="201168"/>
          </a:xfrm>
          <a:prstGeom prst="rect">
            <a:avLst/>
          </a:prstGeom>
          <a:solidFill>
            <a:srgbClr val="1A2C42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137160" y="1993392"/>
            <a:ext cx="1874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42A5F5"/>
                </a:solidFill>
              </a:rPr>
              <a:t>Default Port</a:t>
            </a:r>
            <a:endParaRPr lang="en-US" sz="800" dirty="0"/>
          </a:p>
        </p:txBody>
      </p:sp>
      <p:sp>
        <p:nvSpPr>
          <p:cNvPr id="46" name="Shape 44"/>
          <p:cNvSpPr/>
          <p:nvPr/>
        </p:nvSpPr>
        <p:spPr>
          <a:xfrm>
            <a:off x="2011680" y="1993392"/>
            <a:ext cx="2331720" cy="201168"/>
          </a:xfrm>
          <a:prstGeom prst="rect">
            <a:avLst/>
          </a:prstGeom>
          <a:solidFill>
            <a:srgbClr val="162235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2057400" y="1993392"/>
            <a:ext cx="2286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0F4FF"/>
                </a:solidFill>
              </a:rPr>
              <a:t>20, 21</a:t>
            </a:r>
            <a:endParaRPr lang="en-US" sz="800" dirty="0"/>
          </a:p>
        </p:txBody>
      </p:sp>
      <p:sp>
        <p:nvSpPr>
          <p:cNvPr id="48" name="Shape 46"/>
          <p:cNvSpPr/>
          <p:nvPr/>
        </p:nvSpPr>
        <p:spPr>
          <a:xfrm>
            <a:off x="4343400" y="1993392"/>
            <a:ext cx="2331720" cy="201168"/>
          </a:xfrm>
          <a:prstGeom prst="rect">
            <a:avLst/>
          </a:prstGeom>
          <a:solidFill>
            <a:srgbClr val="162235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389120" y="1993392"/>
            <a:ext cx="2286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0F4FF"/>
                </a:solidFill>
              </a:rPr>
              <a:t>22</a:t>
            </a:r>
            <a:endParaRPr lang="en-US" sz="800" dirty="0"/>
          </a:p>
        </p:txBody>
      </p:sp>
      <p:sp>
        <p:nvSpPr>
          <p:cNvPr id="50" name="Shape 48"/>
          <p:cNvSpPr/>
          <p:nvPr/>
        </p:nvSpPr>
        <p:spPr>
          <a:xfrm>
            <a:off x="6675120" y="1993392"/>
            <a:ext cx="2331720" cy="201168"/>
          </a:xfrm>
          <a:prstGeom prst="rect">
            <a:avLst/>
          </a:prstGeom>
          <a:solidFill>
            <a:srgbClr val="162235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720840" y="1993392"/>
            <a:ext cx="2286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0F4FF"/>
                </a:solidFill>
              </a:rPr>
              <a:t>69</a:t>
            </a:r>
            <a:endParaRPr lang="en-US" sz="800" dirty="0"/>
          </a:p>
        </p:txBody>
      </p:sp>
      <p:sp>
        <p:nvSpPr>
          <p:cNvPr id="52" name="Shape 50"/>
          <p:cNvSpPr/>
          <p:nvPr/>
        </p:nvSpPr>
        <p:spPr>
          <a:xfrm>
            <a:off x="91440" y="2212848"/>
            <a:ext cx="1920240" cy="201168"/>
          </a:xfrm>
          <a:prstGeom prst="rect">
            <a:avLst/>
          </a:prstGeom>
          <a:solidFill>
            <a:srgbClr val="152337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137160" y="2212848"/>
            <a:ext cx="1874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42A5F5"/>
                </a:solidFill>
              </a:rPr>
              <a:t>Connections</a:t>
            </a:r>
            <a:endParaRPr lang="en-US" sz="800" dirty="0"/>
          </a:p>
        </p:txBody>
      </p:sp>
      <p:sp>
        <p:nvSpPr>
          <p:cNvPr id="54" name="Shape 52"/>
          <p:cNvSpPr/>
          <p:nvPr/>
        </p:nvSpPr>
        <p:spPr>
          <a:xfrm>
            <a:off x="2011680" y="2212848"/>
            <a:ext cx="2331720" cy="201168"/>
          </a:xfrm>
          <a:prstGeom prst="rect">
            <a:avLst/>
          </a:prstGeom>
          <a:solidFill>
            <a:srgbClr val="0F1C2E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2057400" y="2212848"/>
            <a:ext cx="2286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0F4FF"/>
                </a:solidFill>
              </a:rPr>
              <a:t>Dual channel</a:t>
            </a:r>
            <a:endParaRPr lang="en-US" sz="800" dirty="0"/>
          </a:p>
        </p:txBody>
      </p:sp>
      <p:sp>
        <p:nvSpPr>
          <p:cNvPr id="56" name="Shape 54"/>
          <p:cNvSpPr/>
          <p:nvPr/>
        </p:nvSpPr>
        <p:spPr>
          <a:xfrm>
            <a:off x="4343400" y="2212848"/>
            <a:ext cx="2331720" cy="201168"/>
          </a:xfrm>
          <a:prstGeom prst="rect">
            <a:avLst/>
          </a:prstGeom>
          <a:solidFill>
            <a:srgbClr val="0F1C2E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4389120" y="2212848"/>
            <a:ext cx="2286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0F4FF"/>
                </a:solidFill>
              </a:rPr>
              <a:t>Single channel</a:t>
            </a:r>
            <a:endParaRPr lang="en-US" sz="800" dirty="0"/>
          </a:p>
        </p:txBody>
      </p:sp>
      <p:sp>
        <p:nvSpPr>
          <p:cNvPr id="58" name="Shape 56"/>
          <p:cNvSpPr/>
          <p:nvPr/>
        </p:nvSpPr>
        <p:spPr>
          <a:xfrm>
            <a:off x="6675120" y="2212848"/>
            <a:ext cx="2331720" cy="201168"/>
          </a:xfrm>
          <a:prstGeom prst="rect">
            <a:avLst/>
          </a:prstGeom>
          <a:solidFill>
            <a:srgbClr val="0F1C2E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6720840" y="2212848"/>
            <a:ext cx="2286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0F4FF"/>
                </a:solidFill>
              </a:rPr>
              <a:t>Connectionless</a:t>
            </a:r>
            <a:endParaRPr lang="en-US" sz="800" dirty="0"/>
          </a:p>
        </p:txBody>
      </p:sp>
      <p:sp>
        <p:nvSpPr>
          <p:cNvPr id="60" name="Shape 58"/>
          <p:cNvSpPr/>
          <p:nvPr/>
        </p:nvSpPr>
        <p:spPr>
          <a:xfrm>
            <a:off x="91440" y="2432304"/>
            <a:ext cx="1920240" cy="201168"/>
          </a:xfrm>
          <a:prstGeom prst="rect">
            <a:avLst/>
          </a:prstGeom>
          <a:solidFill>
            <a:srgbClr val="1A2C42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137160" y="2432304"/>
            <a:ext cx="1874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42A5F5"/>
                </a:solidFill>
              </a:rPr>
              <a:t>Authentication</a:t>
            </a:r>
            <a:endParaRPr lang="en-US" sz="800" dirty="0"/>
          </a:p>
        </p:txBody>
      </p:sp>
      <p:sp>
        <p:nvSpPr>
          <p:cNvPr id="62" name="Shape 60"/>
          <p:cNvSpPr/>
          <p:nvPr/>
        </p:nvSpPr>
        <p:spPr>
          <a:xfrm>
            <a:off x="2011680" y="2432304"/>
            <a:ext cx="2331720" cy="201168"/>
          </a:xfrm>
          <a:prstGeom prst="rect">
            <a:avLst/>
          </a:prstGeom>
          <a:solidFill>
            <a:srgbClr val="162235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2057400" y="2432304"/>
            <a:ext cx="2286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0F4FF"/>
                </a:solidFill>
              </a:rPr>
              <a:t>Username/Password</a:t>
            </a:r>
            <a:endParaRPr lang="en-US" sz="800" dirty="0"/>
          </a:p>
        </p:txBody>
      </p:sp>
      <p:sp>
        <p:nvSpPr>
          <p:cNvPr id="64" name="Shape 62"/>
          <p:cNvSpPr/>
          <p:nvPr/>
        </p:nvSpPr>
        <p:spPr>
          <a:xfrm>
            <a:off x="4343400" y="2432304"/>
            <a:ext cx="2331720" cy="201168"/>
          </a:xfrm>
          <a:prstGeom prst="rect">
            <a:avLst/>
          </a:prstGeom>
          <a:solidFill>
            <a:srgbClr val="162235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4389120" y="2432304"/>
            <a:ext cx="2286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0F4FF"/>
                </a:solidFill>
              </a:rPr>
              <a:t>Password / Key / MFA</a:t>
            </a:r>
            <a:endParaRPr lang="en-US" sz="800" dirty="0"/>
          </a:p>
        </p:txBody>
      </p:sp>
      <p:sp>
        <p:nvSpPr>
          <p:cNvPr id="66" name="Shape 64"/>
          <p:cNvSpPr/>
          <p:nvPr/>
        </p:nvSpPr>
        <p:spPr>
          <a:xfrm>
            <a:off x="6675120" y="2432304"/>
            <a:ext cx="2331720" cy="201168"/>
          </a:xfrm>
          <a:prstGeom prst="rect">
            <a:avLst/>
          </a:prstGeom>
          <a:solidFill>
            <a:srgbClr val="162235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6720840" y="2432304"/>
            <a:ext cx="2286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0F4FF"/>
                </a:solidFill>
              </a:rPr>
              <a:t>None</a:t>
            </a:r>
            <a:endParaRPr lang="en-US" sz="800" dirty="0"/>
          </a:p>
        </p:txBody>
      </p:sp>
      <p:sp>
        <p:nvSpPr>
          <p:cNvPr id="68" name="Shape 66"/>
          <p:cNvSpPr/>
          <p:nvPr/>
        </p:nvSpPr>
        <p:spPr>
          <a:xfrm>
            <a:off x="91440" y="2651760"/>
            <a:ext cx="1920240" cy="201168"/>
          </a:xfrm>
          <a:prstGeom prst="rect">
            <a:avLst/>
          </a:prstGeom>
          <a:solidFill>
            <a:srgbClr val="152337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137160" y="2651760"/>
            <a:ext cx="1874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42A5F5"/>
                </a:solidFill>
              </a:rPr>
              <a:t>Encryption</a:t>
            </a:r>
            <a:endParaRPr lang="en-US" sz="800" dirty="0"/>
          </a:p>
        </p:txBody>
      </p:sp>
      <p:sp>
        <p:nvSpPr>
          <p:cNvPr id="70" name="Shape 68"/>
          <p:cNvSpPr/>
          <p:nvPr/>
        </p:nvSpPr>
        <p:spPr>
          <a:xfrm>
            <a:off x="2011680" y="2651760"/>
            <a:ext cx="2331720" cy="201168"/>
          </a:xfrm>
          <a:prstGeom prst="rect">
            <a:avLst/>
          </a:prstGeom>
          <a:solidFill>
            <a:srgbClr val="0F1C2E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2057400" y="2651760"/>
            <a:ext cx="2286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0F4FF"/>
                </a:solidFill>
              </a:rPr>
              <a:t>None (FTPS adds TLS)</a:t>
            </a:r>
            <a:endParaRPr lang="en-US" sz="800" dirty="0"/>
          </a:p>
        </p:txBody>
      </p:sp>
      <p:sp>
        <p:nvSpPr>
          <p:cNvPr id="72" name="Shape 70"/>
          <p:cNvSpPr/>
          <p:nvPr/>
        </p:nvSpPr>
        <p:spPr>
          <a:xfrm>
            <a:off x="4343400" y="2651760"/>
            <a:ext cx="2331720" cy="201168"/>
          </a:xfrm>
          <a:prstGeom prst="rect">
            <a:avLst/>
          </a:prstGeom>
          <a:solidFill>
            <a:srgbClr val="0F1C2E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4389120" y="2651760"/>
            <a:ext cx="2286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0F4FF"/>
                </a:solidFill>
              </a:rPr>
              <a:t>AES, 3DES, ChaCha20</a:t>
            </a:r>
            <a:endParaRPr lang="en-US" sz="800" dirty="0"/>
          </a:p>
        </p:txBody>
      </p:sp>
      <p:sp>
        <p:nvSpPr>
          <p:cNvPr id="74" name="Shape 72"/>
          <p:cNvSpPr/>
          <p:nvPr/>
        </p:nvSpPr>
        <p:spPr>
          <a:xfrm>
            <a:off x="6675120" y="2651760"/>
            <a:ext cx="2331720" cy="201168"/>
          </a:xfrm>
          <a:prstGeom prst="rect">
            <a:avLst/>
          </a:prstGeom>
          <a:solidFill>
            <a:srgbClr val="0F1C2E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6720840" y="2651760"/>
            <a:ext cx="2286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0F4FF"/>
                </a:solidFill>
              </a:rPr>
              <a:t>None</a:t>
            </a:r>
            <a:endParaRPr lang="en-US" sz="800" dirty="0"/>
          </a:p>
        </p:txBody>
      </p:sp>
      <p:sp>
        <p:nvSpPr>
          <p:cNvPr id="76" name="Shape 74"/>
          <p:cNvSpPr/>
          <p:nvPr/>
        </p:nvSpPr>
        <p:spPr>
          <a:xfrm>
            <a:off x="91440" y="2871216"/>
            <a:ext cx="1920240" cy="201168"/>
          </a:xfrm>
          <a:prstGeom prst="rect">
            <a:avLst/>
          </a:prstGeom>
          <a:solidFill>
            <a:srgbClr val="1A2C42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137160" y="2871216"/>
            <a:ext cx="1874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42A5F5"/>
                </a:solidFill>
              </a:rPr>
              <a:t>Speed</a:t>
            </a:r>
            <a:endParaRPr lang="en-US" sz="800" dirty="0"/>
          </a:p>
        </p:txBody>
      </p:sp>
      <p:sp>
        <p:nvSpPr>
          <p:cNvPr id="78" name="Shape 76"/>
          <p:cNvSpPr/>
          <p:nvPr/>
        </p:nvSpPr>
        <p:spPr>
          <a:xfrm>
            <a:off x="2011680" y="2871216"/>
            <a:ext cx="2331720" cy="201168"/>
          </a:xfrm>
          <a:prstGeom prst="rect">
            <a:avLst/>
          </a:prstGeom>
          <a:solidFill>
            <a:srgbClr val="162235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2057400" y="2871216"/>
            <a:ext cx="2286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0F4FF"/>
                </a:solidFill>
              </a:rPr>
              <a:t>Medium</a:t>
            </a:r>
            <a:endParaRPr lang="en-US" sz="800" dirty="0"/>
          </a:p>
        </p:txBody>
      </p:sp>
      <p:sp>
        <p:nvSpPr>
          <p:cNvPr id="80" name="Shape 78"/>
          <p:cNvSpPr/>
          <p:nvPr/>
        </p:nvSpPr>
        <p:spPr>
          <a:xfrm>
            <a:off x="4343400" y="2871216"/>
            <a:ext cx="2331720" cy="201168"/>
          </a:xfrm>
          <a:prstGeom prst="rect">
            <a:avLst/>
          </a:prstGeom>
          <a:solidFill>
            <a:srgbClr val="162235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4389120" y="2871216"/>
            <a:ext cx="2286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0F4FF"/>
                </a:solidFill>
              </a:rPr>
              <a:t>Medium</a:t>
            </a:r>
            <a:endParaRPr lang="en-US" sz="800" dirty="0"/>
          </a:p>
        </p:txBody>
      </p:sp>
      <p:sp>
        <p:nvSpPr>
          <p:cNvPr id="82" name="Shape 80"/>
          <p:cNvSpPr/>
          <p:nvPr/>
        </p:nvSpPr>
        <p:spPr>
          <a:xfrm>
            <a:off x="6675120" y="2871216"/>
            <a:ext cx="2331720" cy="201168"/>
          </a:xfrm>
          <a:prstGeom prst="rect">
            <a:avLst/>
          </a:prstGeom>
          <a:solidFill>
            <a:srgbClr val="162235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6720840" y="2871216"/>
            <a:ext cx="2286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0F4FF"/>
                </a:solidFill>
              </a:rPr>
              <a:t>fast</a:t>
            </a:r>
            <a:endParaRPr lang="en-US" sz="800" dirty="0"/>
          </a:p>
        </p:txBody>
      </p:sp>
      <p:sp>
        <p:nvSpPr>
          <p:cNvPr id="84" name="Shape 82"/>
          <p:cNvSpPr/>
          <p:nvPr/>
        </p:nvSpPr>
        <p:spPr>
          <a:xfrm>
            <a:off x="91440" y="3090672"/>
            <a:ext cx="1920240" cy="201168"/>
          </a:xfrm>
          <a:prstGeom prst="rect">
            <a:avLst/>
          </a:prstGeom>
          <a:solidFill>
            <a:srgbClr val="152337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137160" y="3090672"/>
            <a:ext cx="1874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42A5F5"/>
                </a:solidFill>
              </a:rPr>
              <a:t>Use Case</a:t>
            </a:r>
            <a:endParaRPr lang="en-US" sz="800" dirty="0"/>
          </a:p>
        </p:txBody>
      </p:sp>
      <p:sp>
        <p:nvSpPr>
          <p:cNvPr id="86" name="Shape 84"/>
          <p:cNvSpPr/>
          <p:nvPr/>
        </p:nvSpPr>
        <p:spPr>
          <a:xfrm>
            <a:off x="2011680" y="3090672"/>
            <a:ext cx="2331720" cy="201168"/>
          </a:xfrm>
          <a:prstGeom prst="rect">
            <a:avLst/>
          </a:prstGeom>
          <a:solidFill>
            <a:srgbClr val="0F1C2E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87" name="Text 85"/>
          <p:cNvSpPr/>
          <p:nvPr/>
        </p:nvSpPr>
        <p:spPr>
          <a:xfrm>
            <a:off x="2057400" y="3090672"/>
            <a:ext cx="2286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0F4FF"/>
                </a:solidFill>
              </a:rPr>
              <a:t>General file transfer</a:t>
            </a:r>
            <a:endParaRPr lang="en-US" sz="800" dirty="0"/>
          </a:p>
        </p:txBody>
      </p:sp>
      <p:sp>
        <p:nvSpPr>
          <p:cNvPr id="88" name="Shape 86"/>
          <p:cNvSpPr/>
          <p:nvPr/>
        </p:nvSpPr>
        <p:spPr>
          <a:xfrm>
            <a:off x="4343400" y="3090672"/>
            <a:ext cx="2331720" cy="201168"/>
          </a:xfrm>
          <a:prstGeom prst="rect">
            <a:avLst/>
          </a:prstGeom>
          <a:solidFill>
            <a:srgbClr val="0F1C2E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89" name="Text 87"/>
          <p:cNvSpPr/>
          <p:nvPr/>
        </p:nvSpPr>
        <p:spPr>
          <a:xfrm>
            <a:off x="4389120" y="3090672"/>
            <a:ext cx="2286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0F4FF"/>
                </a:solidFill>
              </a:rPr>
              <a:t>Secure transfer</a:t>
            </a:r>
            <a:endParaRPr lang="en-US" sz="800" dirty="0"/>
          </a:p>
        </p:txBody>
      </p:sp>
      <p:sp>
        <p:nvSpPr>
          <p:cNvPr id="90" name="Shape 88"/>
          <p:cNvSpPr/>
          <p:nvPr/>
        </p:nvSpPr>
        <p:spPr>
          <a:xfrm>
            <a:off x="6675120" y="3090672"/>
            <a:ext cx="2331720" cy="201168"/>
          </a:xfrm>
          <a:prstGeom prst="rect">
            <a:avLst/>
          </a:prstGeom>
          <a:solidFill>
            <a:srgbClr val="0F1C2E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91" name="Text 89"/>
          <p:cNvSpPr/>
          <p:nvPr/>
        </p:nvSpPr>
        <p:spPr>
          <a:xfrm>
            <a:off x="6720840" y="3090672"/>
            <a:ext cx="2286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0F4FF"/>
                </a:solidFill>
              </a:rPr>
              <a:t>Small/simple transfer</a:t>
            </a:r>
            <a:endParaRPr lang="en-US" sz="800" dirty="0"/>
          </a:p>
        </p:txBody>
      </p:sp>
      <p:sp>
        <p:nvSpPr>
          <p:cNvPr id="92" name="Shape 90"/>
          <p:cNvSpPr/>
          <p:nvPr/>
        </p:nvSpPr>
        <p:spPr>
          <a:xfrm>
            <a:off x="91440" y="3310128"/>
            <a:ext cx="1920240" cy="201168"/>
          </a:xfrm>
          <a:prstGeom prst="rect">
            <a:avLst/>
          </a:prstGeom>
          <a:solidFill>
            <a:srgbClr val="1A2C42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93" name="Text 91"/>
          <p:cNvSpPr/>
          <p:nvPr/>
        </p:nvSpPr>
        <p:spPr>
          <a:xfrm>
            <a:off x="137160" y="3310128"/>
            <a:ext cx="1874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42A5F5"/>
                </a:solidFill>
              </a:rPr>
              <a:t>Security</a:t>
            </a:r>
            <a:endParaRPr lang="en-US" sz="800" dirty="0"/>
          </a:p>
        </p:txBody>
      </p:sp>
      <p:sp>
        <p:nvSpPr>
          <p:cNvPr id="94" name="Shape 92"/>
          <p:cNvSpPr/>
          <p:nvPr/>
        </p:nvSpPr>
        <p:spPr>
          <a:xfrm>
            <a:off x="2011680" y="3310128"/>
            <a:ext cx="2331720" cy="201168"/>
          </a:xfrm>
          <a:prstGeom prst="rect">
            <a:avLst/>
          </a:prstGeom>
          <a:solidFill>
            <a:srgbClr val="162235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95" name="Text 93"/>
          <p:cNvSpPr/>
          <p:nvPr/>
        </p:nvSpPr>
        <p:spPr>
          <a:xfrm>
            <a:off x="2057400" y="3310128"/>
            <a:ext cx="2286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800" dirty="0">
                <a:solidFill>
                  <a:srgbClr val="EF5350"/>
                </a:solidFill>
              </a:rPr>
              <a:t>LOW — plaintext</a:t>
            </a:r>
            <a:endParaRPr lang="en-US" sz="800" dirty="0"/>
          </a:p>
        </p:txBody>
      </p:sp>
      <p:sp>
        <p:nvSpPr>
          <p:cNvPr id="96" name="Shape 94"/>
          <p:cNvSpPr/>
          <p:nvPr/>
        </p:nvSpPr>
        <p:spPr>
          <a:xfrm>
            <a:off x="4343400" y="3310128"/>
            <a:ext cx="2331720" cy="201168"/>
          </a:xfrm>
          <a:prstGeom prst="rect">
            <a:avLst/>
          </a:prstGeom>
          <a:solidFill>
            <a:srgbClr val="162235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97" name="Text 95"/>
          <p:cNvSpPr/>
          <p:nvPr/>
        </p:nvSpPr>
        <p:spPr>
          <a:xfrm>
            <a:off x="4389120" y="3310128"/>
            <a:ext cx="2286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800" dirty="0">
                <a:solidFill>
                  <a:srgbClr val="66BB6A"/>
                </a:solidFill>
              </a:rPr>
              <a:t>HIGH — encrypted</a:t>
            </a:r>
            <a:endParaRPr lang="en-US" sz="800" dirty="0"/>
          </a:p>
        </p:txBody>
      </p:sp>
      <p:sp>
        <p:nvSpPr>
          <p:cNvPr id="98" name="Shape 96"/>
          <p:cNvSpPr/>
          <p:nvPr/>
        </p:nvSpPr>
        <p:spPr>
          <a:xfrm>
            <a:off x="6675120" y="3310128"/>
            <a:ext cx="2331720" cy="201168"/>
          </a:xfrm>
          <a:prstGeom prst="rect">
            <a:avLst/>
          </a:prstGeom>
          <a:solidFill>
            <a:srgbClr val="162235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99" name="Text 97"/>
          <p:cNvSpPr/>
          <p:nvPr/>
        </p:nvSpPr>
        <p:spPr>
          <a:xfrm>
            <a:off x="6720840" y="3310128"/>
            <a:ext cx="2286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800" dirty="0">
                <a:solidFill>
                  <a:srgbClr val="FF7043"/>
                </a:solidFill>
              </a:rPr>
              <a:t>NONE — open</a:t>
            </a:r>
            <a:endParaRPr lang="en-US" sz="800" dirty="0"/>
          </a:p>
        </p:txBody>
      </p:sp>
      <p:sp>
        <p:nvSpPr>
          <p:cNvPr id="100" name="Shape 98"/>
          <p:cNvSpPr/>
          <p:nvPr/>
        </p:nvSpPr>
        <p:spPr>
          <a:xfrm>
            <a:off x="91440" y="3529584"/>
            <a:ext cx="1920240" cy="201168"/>
          </a:xfrm>
          <a:prstGeom prst="rect">
            <a:avLst/>
          </a:prstGeom>
          <a:solidFill>
            <a:srgbClr val="152337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01" name="Text 99"/>
          <p:cNvSpPr/>
          <p:nvPr/>
        </p:nvSpPr>
        <p:spPr>
          <a:xfrm>
            <a:off x="137160" y="3529584"/>
            <a:ext cx="1874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42A5F5"/>
                </a:solidFill>
              </a:rPr>
              <a:t>Max File Size</a:t>
            </a:r>
            <a:endParaRPr lang="en-US" sz="800" dirty="0"/>
          </a:p>
        </p:txBody>
      </p:sp>
      <p:sp>
        <p:nvSpPr>
          <p:cNvPr id="102" name="Shape 100"/>
          <p:cNvSpPr/>
          <p:nvPr/>
        </p:nvSpPr>
        <p:spPr>
          <a:xfrm>
            <a:off x="2011680" y="3529584"/>
            <a:ext cx="2331720" cy="201168"/>
          </a:xfrm>
          <a:prstGeom prst="rect">
            <a:avLst/>
          </a:prstGeom>
          <a:solidFill>
            <a:srgbClr val="0F1C2E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03" name="Text 101"/>
          <p:cNvSpPr/>
          <p:nvPr/>
        </p:nvSpPr>
        <p:spPr>
          <a:xfrm>
            <a:off x="2057400" y="3529584"/>
            <a:ext cx="2286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0F4FF"/>
                </a:solidFill>
              </a:rPr>
              <a:t>Unlimited</a:t>
            </a:r>
            <a:endParaRPr lang="en-US" sz="800" dirty="0"/>
          </a:p>
        </p:txBody>
      </p:sp>
      <p:sp>
        <p:nvSpPr>
          <p:cNvPr id="104" name="Shape 102"/>
          <p:cNvSpPr/>
          <p:nvPr/>
        </p:nvSpPr>
        <p:spPr>
          <a:xfrm>
            <a:off x="4343400" y="3529584"/>
            <a:ext cx="2331720" cy="201168"/>
          </a:xfrm>
          <a:prstGeom prst="rect">
            <a:avLst/>
          </a:prstGeom>
          <a:solidFill>
            <a:srgbClr val="0F1C2E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05" name="Text 103"/>
          <p:cNvSpPr/>
          <p:nvPr/>
        </p:nvSpPr>
        <p:spPr>
          <a:xfrm>
            <a:off x="4389120" y="3529584"/>
            <a:ext cx="2286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0F4FF"/>
                </a:solidFill>
              </a:rPr>
              <a:t>Unlimited</a:t>
            </a:r>
            <a:endParaRPr lang="en-US" sz="800" dirty="0"/>
          </a:p>
        </p:txBody>
      </p:sp>
      <p:sp>
        <p:nvSpPr>
          <p:cNvPr id="106" name="Shape 104"/>
          <p:cNvSpPr/>
          <p:nvPr/>
        </p:nvSpPr>
        <p:spPr>
          <a:xfrm>
            <a:off x="6675120" y="3529584"/>
            <a:ext cx="2331720" cy="201168"/>
          </a:xfrm>
          <a:prstGeom prst="rect">
            <a:avLst/>
          </a:prstGeom>
          <a:solidFill>
            <a:srgbClr val="0F1C2E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r>
              <a:rPr lang="en-US" sz="800" dirty="0">
                <a:solidFill>
                  <a:srgbClr val="F0F4FF"/>
                </a:solidFill>
              </a:rPr>
              <a:t>~32MB (RFC 1350)</a:t>
            </a:r>
            <a:endParaRPr lang="en-PK" sz="800" dirty="0"/>
          </a:p>
        </p:txBody>
      </p:sp>
      <p:sp>
        <p:nvSpPr>
          <p:cNvPr id="107" name="Text 105"/>
          <p:cNvSpPr/>
          <p:nvPr/>
        </p:nvSpPr>
        <p:spPr>
          <a:xfrm>
            <a:off x="6720840" y="3529584"/>
            <a:ext cx="2286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800" dirty="0"/>
          </a:p>
        </p:txBody>
      </p:sp>
      <p:sp>
        <p:nvSpPr>
          <p:cNvPr id="109" name="Text 107"/>
          <p:cNvSpPr/>
          <p:nvPr/>
        </p:nvSpPr>
        <p:spPr>
          <a:xfrm>
            <a:off x="137160" y="3749040"/>
            <a:ext cx="1874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800" dirty="0"/>
          </a:p>
        </p:txBody>
      </p:sp>
      <p:sp>
        <p:nvSpPr>
          <p:cNvPr id="111" name="Text 109"/>
          <p:cNvSpPr/>
          <p:nvPr/>
        </p:nvSpPr>
        <p:spPr>
          <a:xfrm>
            <a:off x="2057400" y="3749040"/>
            <a:ext cx="2286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800" dirty="0"/>
          </a:p>
        </p:txBody>
      </p:sp>
      <p:sp>
        <p:nvSpPr>
          <p:cNvPr id="113" name="Text 111"/>
          <p:cNvSpPr/>
          <p:nvPr/>
        </p:nvSpPr>
        <p:spPr>
          <a:xfrm>
            <a:off x="4389120" y="3749040"/>
            <a:ext cx="2286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800" dirty="0"/>
          </a:p>
        </p:txBody>
      </p:sp>
      <p:sp>
        <p:nvSpPr>
          <p:cNvPr id="115" name="Text 113"/>
          <p:cNvSpPr/>
          <p:nvPr/>
        </p:nvSpPr>
        <p:spPr>
          <a:xfrm>
            <a:off x="6720840" y="3749040"/>
            <a:ext cx="2286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800" dirty="0"/>
          </a:p>
        </p:txBody>
      </p:sp>
      <p:sp>
        <p:nvSpPr>
          <p:cNvPr id="141" name="Text 139"/>
          <p:cNvSpPr/>
          <p:nvPr/>
        </p:nvSpPr>
        <p:spPr>
          <a:xfrm>
            <a:off x="137160" y="4626864"/>
            <a:ext cx="1874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800" dirty="0"/>
          </a:p>
        </p:txBody>
      </p:sp>
      <p:sp>
        <p:nvSpPr>
          <p:cNvPr id="149" name="Text 147"/>
          <p:cNvSpPr/>
          <p:nvPr/>
        </p:nvSpPr>
        <p:spPr>
          <a:xfrm>
            <a:off x="137160" y="4846320"/>
            <a:ext cx="1874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800" dirty="0"/>
          </a:p>
        </p:txBody>
      </p:sp>
      <p:sp>
        <p:nvSpPr>
          <p:cNvPr id="151" name="Text 149"/>
          <p:cNvSpPr/>
          <p:nvPr/>
        </p:nvSpPr>
        <p:spPr>
          <a:xfrm>
            <a:off x="2057400" y="4846320"/>
            <a:ext cx="2286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800" dirty="0"/>
          </a:p>
        </p:txBody>
      </p:sp>
      <p:sp>
        <p:nvSpPr>
          <p:cNvPr id="153" name="Text 151"/>
          <p:cNvSpPr/>
          <p:nvPr/>
        </p:nvSpPr>
        <p:spPr>
          <a:xfrm>
            <a:off x="4389120" y="4846320"/>
            <a:ext cx="2286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800" dirty="0"/>
          </a:p>
        </p:txBody>
      </p:sp>
      <p:sp>
        <p:nvSpPr>
          <p:cNvPr id="155" name="Text 153"/>
          <p:cNvSpPr/>
          <p:nvPr/>
        </p:nvSpPr>
        <p:spPr>
          <a:xfrm>
            <a:off x="6720840" y="4846320"/>
            <a:ext cx="2286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0" cy="5143500"/>
          </a:xfrm>
          <a:prstGeom prst="rect">
            <a:avLst/>
          </a:prstGeom>
          <a:solidFill>
            <a:srgbClr val="162235">
              <a:alpha val="30000"/>
            </a:srgbClr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554480" y="0"/>
            <a:ext cx="1371600" cy="5143500"/>
          </a:xfrm>
          <a:prstGeom prst="rect">
            <a:avLst/>
          </a:prstGeom>
          <a:solidFill>
            <a:srgbClr val="162235">
              <a:alpha val="30000"/>
            </a:srgbClr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108960" y="0"/>
            <a:ext cx="1371600" cy="5143500"/>
          </a:xfrm>
          <a:prstGeom prst="rect">
            <a:avLst/>
          </a:prstGeom>
          <a:solidFill>
            <a:srgbClr val="162235">
              <a:alpha val="30000"/>
            </a:srgbClr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663440" y="0"/>
            <a:ext cx="1371600" cy="5143500"/>
          </a:xfrm>
          <a:prstGeom prst="rect">
            <a:avLst/>
          </a:prstGeom>
          <a:solidFill>
            <a:srgbClr val="162235">
              <a:alpha val="30000"/>
            </a:srgbClr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217920" y="0"/>
            <a:ext cx="1371600" cy="5143500"/>
          </a:xfrm>
          <a:prstGeom prst="rect">
            <a:avLst/>
          </a:prstGeom>
          <a:solidFill>
            <a:srgbClr val="162235">
              <a:alpha val="30000"/>
            </a:srgbClr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772400" y="0"/>
            <a:ext cx="1371600" cy="5143500"/>
          </a:xfrm>
          <a:prstGeom prst="rect">
            <a:avLst/>
          </a:prstGeom>
          <a:solidFill>
            <a:srgbClr val="162235">
              <a:alpha val="30000"/>
            </a:srgbClr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32004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FFFFFF"/>
                </a:solidFill>
              </a:rPr>
              <a:t>Key Takeaways</a:t>
            </a:r>
            <a:endParaRPr lang="en-US" sz="3800" dirty="0"/>
          </a:p>
        </p:txBody>
      </p:sp>
      <p:sp>
        <p:nvSpPr>
          <p:cNvPr id="9" name="Shape 7"/>
          <p:cNvSpPr/>
          <p:nvPr/>
        </p:nvSpPr>
        <p:spPr>
          <a:xfrm>
            <a:off x="3200400" y="914400"/>
            <a:ext cx="2743200" cy="36576"/>
          </a:xfrm>
          <a:prstGeom prst="rect">
            <a:avLst/>
          </a:prstGeom>
          <a:solidFill>
            <a:srgbClr val="FFD600"/>
          </a:solidFill>
          <a:ln w="12700">
            <a:solidFill>
              <a:srgbClr val="FFD60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200" y="1097280"/>
            <a:ext cx="8229600" cy="987552"/>
          </a:xfrm>
          <a:prstGeom prst="rect">
            <a:avLst/>
          </a:prstGeom>
          <a:solidFill>
            <a:srgbClr val="162235"/>
          </a:solidFill>
          <a:ln w="25400">
            <a:solidFill>
              <a:srgbClr val="1565C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7200" y="1097280"/>
            <a:ext cx="502920" cy="987552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1097280"/>
            <a:ext cx="50292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01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078992" y="1124712"/>
            <a:ext cx="1097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565C0"/>
                </a:solidFill>
              </a:rPr>
              <a:t>FTP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078992" y="1463040"/>
            <a:ext cx="7406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F0F4FF"/>
                </a:solidFill>
              </a:rPr>
              <a:t>Original &amp; Fast — Great throughput but no encryption. Suitable only for internal trusted networks. Consider FTPS if TLS is needed.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200" y="2194560"/>
            <a:ext cx="8229600" cy="987552"/>
          </a:xfrm>
          <a:prstGeom prst="rect">
            <a:avLst/>
          </a:prstGeom>
          <a:solidFill>
            <a:srgbClr val="162235"/>
          </a:solidFill>
          <a:ln w="25400">
            <a:solidFill>
              <a:srgbClr val="1B5E2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57200" y="2194560"/>
            <a:ext cx="502920" cy="987552"/>
          </a:xfrm>
          <a:prstGeom prst="rect">
            <a:avLst/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2194560"/>
            <a:ext cx="50292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02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078992" y="2221992"/>
            <a:ext cx="1097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B5E20"/>
                </a:solidFill>
              </a:rPr>
              <a:t>SFTP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078992" y="2560320"/>
            <a:ext cx="7406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F0F4FF"/>
                </a:solidFill>
              </a:rPr>
              <a:t>Secure by Design — The gold standard for modern file transfer. Single port, encrypted, supports key-based auth. Use for all internet-facing transfers.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57200" y="3291840"/>
            <a:ext cx="8229600" cy="987552"/>
          </a:xfrm>
          <a:prstGeom prst="rect">
            <a:avLst/>
          </a:prstGeom>
          <a:solidFill>
            <a:srgbClr val="162235"/>
          </a:solidFill>
          <a:ln w="25400">
            <a:solidFill>
              <a:srgbClr val="E6510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57200" y="3291840"/>
            <a:ext cx="502920" cy="987552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7200" y="3291840"/>
            <a:ext cx="50292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03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1078992" y="3319272"/>
            <a:ext cx="1097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E65100"/>
                </a:solidFill>
              </a:rPr>
              <a:t>TFTP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1078992" y="3657600"/>
            <a:ext cx="7406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F0F4FF"/>
                </a:solidFill>
              </a:rPr>
              <a:t>Simple &amp; Minimal — Designed for speed and simplicity over security. Essential for PXE boot, routers, and IoT devices in isolated networks.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57200" y="44805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0" y="4956048"/>
            <a:ext cx="9144000" cy="18288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5DAE5E3-162B-484C-87C4-50A54CA73C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0000" y="349624"/>
            <a:ext cx="8563694" cy="200809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19735D49-C798-4BD7-BD06-71FA981F244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0000" y="2357717"/>
            <a:ext cx="8563694" cy="146124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547CBBC-F588-4C7C-A178-D96F1CCD4E9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0000" y="3818965"/>
            <a:ext cx="8563694" cy="9749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474799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354</TotalTime>
  <Words>1231</Words>
  <Application>Microsoft Office PowerPoint</Application>
  <PresentationFormat>On-screen Show (16:9)</PresentationFormat>
  <Paragraphs>265</Paragraphs>
  <Slides>9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File Transfer Protocols: FTP, SFTP &amp; TFTP</dc:title>
  <dc:subject>PptxGenJS Presentation</dc:subject>
  <dc:creator>PptxGenJS</dc:creator>
  <cp:lastModifiedBy>Malik Fahad</cp:lastModifiedBy>
  <cp:revision>15</cp:revision>
  <dcterms:created xsi:type="dcterms:W3CDTF">2026-03-26T15:53:40Z</dcterms:created>
  <dcterms:modified xsi:type="dcterms:W3CDTF">2026-03-27T06:38:01Z</dcterms:modified>
</cp:coreProperties>
</file>